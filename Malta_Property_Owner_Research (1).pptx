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mta.com.mt/licences" TargetMode="External"/><Relationship Id="rId4" Type="http://schemas.openxmlformats.org/officeDocument/2006/relationships/hyperlink" Target="https://directfromowner.eu" TargetMode="External"/><Relationship Id="rId6" Type="http://schemas.openxmlformats.org/officeDocument/2006/relationships/hyperlink" Target="https://maltapark.com" TargetMode="External"/><Relationship Id="rId1" Type="http://schemas.openxmlformats.org/officeDocument/2006/relationships/image" Target="../media/image-4-1.png"/><Relationship Id="rId3" Type="http://schemas.openxmlformats.org/officeDocument/2006/relationships/image" Target="../media/image-4-2.png"/><Relationship Id="rId5" Type="http://schemas.openxmlformats.org/officeDocument/2006/relationships/image" Target="../media/image-4-3.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mta.com.mt/licences/licences/?type=hfps-malta" TargetMode="External"/><Relationship Id="rId1"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2.png"/><Relationship Id="rId5" Type="http://schemas.openxmlformats.org/officeDocument/2006/relationships/image" Target="../media/image-5-2.png"/><Relationship Id="rId6" Type="http://schemas.openxmlformats.org/officeDocument/2006/relationships/image" Target="../media/image-5-5.png"/><Relationship Id="rId7" Type="http://schemas.openxmlformats.org/officeDocument/2006/relationships/image" Target="../media/image-5-5.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directfromowner.eu/properties-listing/" TargetMode="External"/><Relationship Id="rId3" Type="http://schemas.openxmlformats.org/officeDocument/2006/relationships/hyperlink" Target="https://darscover.com/for_sale/by_owner" TargetMode="External"/><Relationship Id="rId1"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2.png"/><Relationship Id="rId6" Type="http://schemas.openxmlformats.org/officeDocument/2006/relationships/image" Target="../media/image-6-4.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maltapark.com/listings/category/246" TargetMode="External"/><Relationship Id="rId1"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2.png"/><Relationship Id="rId5" Type="http://schemas.openxmlformats.org/officeDocument/2006/relationships/image" Target="../media/image-7-4.png"/><Relationship Id="rId6" Type="http://schemas.openxmlformats.org/officeDocument/2006/relationships/image" Target="../media/image-7-4.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mta.com.mt/licences/licences/?type=hfps-malta" TargetMode="External"/><Relationship Id="rId4" Type="http://schemas.openxmlformats.org/officeDocument/2006/relationships/hyperlink" Target="https://validator.mta.com.mt" TargetMode="External"/><Relationship Id="rId6" Type="http://schemas.openxmlformats.org/officeDocument/2006/relationships/hyperlink" Target="https://directfromowner.eu/properties-listing/" TargetMode="External"/><Relationship Id="rId8" Type="http://schemas.openxmlformats.org/officeDocument/2006/relationships/hyperlink" Target="https://darscover.com/for_sale/by_owner" TargetMode="External"/><Relationship Id="rId10" Type="http://schemas.openxmlformats.org/officeDocument/2006/relationships/hyperlink" Target="https://homesinmalta.com/for-sale-by-owner/" TargetMode="External"/><Relationship Id="rId12" Type="http://schemas.openxmlformats.org/officeDocument/2006/relationships/hyperlink" Target="https://maltapark.com/listings/category/246" TargetMode="External"/><Relationship Id="rId14" Type="http://schemas.openxmlformats.org/officeDocument/2006/relationships/hyperlink" Target="https://maltapark.com/listings/category/247" TargetMode="External"/><Relationship Id="rId16" Type="http://schemas.openxmlformats.org/officeDocument/2006/relationships/hyperlink" Target="https://www.propertiesfromowner.com/" TargetMode="External"/><Relationship Id="rId18" Type="http://schemas.openxmlformats.org/officeDocument/2006/relationships/hyperlink" Target="https://landsregistry.mt/en/" TargetMode="External"/><Relationship Id="rId20" Type="http://schemas.openxmlformats.org/officeDocument/2006/relationships/hyperlink" Target="https://identita.gov.mt/searches-main-page/" TargetMode="External"/><Relationship Id="rId22" Type="http://schemas.openxmlformats.org/officeDocument/2006/relationships/hyperlink" Target="https://mbr.mca.org.mt" TargetMode="External"/><Relationship Id="rId24" Type="http://schemas.openxmlformats.org/officeDocument/2006/relationships/hyperlink" Target="https://ppr.propertymalta.org/" TargetMode="External"/><Relationship Id="rId1" Type="http://schemas.openxmlformats.org/officeDocument/2006/relationships/image" Target="../media/image-10-1.png"/><Relationship Id="rId3" Type="http://schemas.openxmlformats.org/officeDocument/2006/relationships/image" Target="../media/image-10-1.png"/><Relationship Id="rId5" Type="http://schemas.openxmlformats.org/officeDocument/2006/relationships/image" Target="../media/image-10-1.png"/><Relationship Id="rId7" Type="http://schemas.openxmlformats.org/officeDocument/2006/relationships/image" Target="../media/image-10-1.png"/><Relationship Id="rId9" Type="http://schemas.openxmlformats.org/officeDocument/2006/relationships/image" Target="../media/image-10-1.png"/><Relationship Id="rId11" Type="http://schemas.openxmlformats.org/officeDocument/2006/relationships/image" Target="../media/image-10-1.png"/><Relationship Id="rId13" Type="http://schemas.openxmlformats.org/officeDocument/2006/relationships/image" Target="../media/image-10-1.png"/><Relationship Id="rId15" Type="http://schemas.openxmlformats.org/officeDocument/2006/relationships/image" Target="../media/image-10-1.png"/><Relationship Id="rId17" Type="http://schemas.openxmlformats.org/officeDocument/2006/relationships/image" Target="../media/image-10-1.png"/><Relationship Id="rId19" Type="http://schemas.openxmlformats.org/officeDocument/2006/relationships/image" Target="../media/image-10-1.png"/><Relationship Id="rId21" Type="http://schemas.openxmlformats.org/officeDocument/2006/relationships/image" Target="../media/image-10-1.png"/><Relationship Id="rId23" Type="http://schemas.openxmlformats.org/officeDocument/2006/relationships/image" Target="../media/image-10-1.png"/><Relationship Id="rId25" Type="http://schemas.openxmlformats.org/officeDocument/2006/relationships/slideLayout" Target="../slideLayouts/slideLayout1.xml"/><Relationship Id="rId2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1295C"/>
          </a:solidFill>
          <a:ln/>
        </p:spPr>
      </p:sp>
      <p:sp>
        <p:nvSpPr>
          <p:cNvPr id="3" name="Shape 1"/>
          <p:cNvSpPr/>
          <p:nvPr/>
        </p:nvSpPr>
        <p:spPr>
          <a:xfrm>
            <a:off x="9692640" y="-1371600"/>
            <a:ext cx="4572000" cy="4572000"/>
          </a:xfrm>
          <a:prstGeom prst="ellipse">
            <a:avLst/>
          </a:prstGeom>
          <a:solidFill>
            <a:srgbClr val="065A82">
              <a:alpha val="40000"/>
            </a:srgbClr>
          </a:solidFill>
          <a:ln/>
        </p:spPr>
      </p:sp>
      <p:sp>
        <p:nvSpPr>
          <p:cNvPr id="4" name="Shape 2"/>
          <p:cNvSpPr/>
          <p:nvPr/>
        </p:nvSpPr>
        <p:spPr>
          <a:xfrm>
            <a:off x="-1371600" y="4754880"/>
            <a:ext cx="3657600" cy="3657600"/>
          </a:xfrm>
          <a:prstGeom prst="ellipse">
            <a:avLst/>
          </a:prstGeom>
          <a:solidFill>
            <a:srgbClr val="1C7293">
              <a:alpha val="35000"/>
            </a:srgbClr>
          </a:solidFill>
          <a:ln/>
        </p:spPr>
      </p:sp>
      <p:pic>
        <p:nvPicPr>
          <p:cNvPr id="5" name="Image 0" descr="/home/claude/ppt/white_icon_home.png">    </p:cNvPr>
          <p:cNvPicPr>
            <a:picLocks noChangeAspect="1"/>
          </p:cNvPicPr>
          <p:nvPr/>
        </p:nvPicPr>
        <p:blipFill>
          <a:blip r:embed="rId1"/>
          <a:stretch>
            <a:fillRect/>
          </a:stretch>
        </p:blipFill>
        <p:spPr>
          <a:xfrm>
            <a:off x="822960" y="777240"/>
            <a:ext cx="640080" cy="640080"/>
          </a:xfrm>
          <a:prstGeom prst="rect">
            <a:avLst/>
          </a:prstGeom>
        </p:spPr>
      </p:pic>
      <p:sp>
        <p:nvSpPr>
          <p:cNvPr id="6" name="Text 3"/>
          <p:cNvSpPr txBox="1"/>
          <p:nvPr/>
        </p:nvSpPr>
        <p:spPr>
          <a:xfrm>
            <a:off x="822960" y="233172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MALTA PROPERTY OWNER DATA</a:t>
            </a:r>
            <a:endParaRPr lang="en-US" sz="4000" dirty="0"/>
          </a:p>
        </p:txBody>
      </p:sp>
      <p:sp>
        <p:nvSpPr>
          <p:cNvPr id="7" name="Text 4"/>
          <p:cNvSpPr txBox="1"/>
          <p:nvPr/>
        </p:nvSpPr>
        <p:spPr>
          <a:xfrm>
            <a:off x="822960" y="3246120"/>
            <a:ext cx="9875520" cy="54864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Research Summary — Sourcing Leads for a Short-Let Property Management Business</a:t>
            </a:r>
            <a:endParaRPr lang="en-US" sz="1800" dirty="0"/>
          </a:p>
        </p:txBody>
      </p:sp>
      <p:sp>
        <p:nvSpPr>
          <p:cNvPr id="8" name="Shape 5"/>
          <p:cNvSpPr/>
          <p:nvPr/>
        </p:nvSpPr>
        <p:spPr>
          <a:xfrm>
            <a:off x="822960" y="3977640"/>
            <a:ext cx="822960" cy="36576"/>
          </a:xfrm>
          <a:prstGeom prst="rect">
            <a:avLst/>
          </a:prstGeom>
          <a:solidFill>
            <a:srgbClr val="E8A33D"/>
          </a:solidFill>
          <a:ln/>
        </p:spPr>
      </p:sp>
      <p:sp>
        <p:nvSpPr>
          <p:cNvPr id="9" name="Text 6"/>
          <p:cNvSpPr txBox="1"/>
          <p:nvPr/>
        </p:nvSpPr>
        <p:spPr>
          <a:xfrm>
            <a:off x="822960" y="6080760"/>
            <a:ext cx="5486400" cy="365760"/>
          </a:xfrm>
          <a:prstGeom prst="rect">
            <a:avLst/>
          </a:prstGeom>
          <a:noFill/>
          <a:ln/>
        </p:spPr>
        <p:txBody>
          <a:bodyPr wrap="square" lIns="0" tIns="0" rIns="0" bIns="0" rtlCol="0" anchor="ctr"/>
          <a:lstStyle/>
          <a:p>
            <a:pPr indent="0" marL="0">
              <a:buNone/>
            </a:pPr>
            <a:r>
              <a:rPr lang="en-US" sz="1200" dirty="0">
                <a:solidFill>
                  <a:srgbClr val="9FB3D6"/>
                </a:solidFill>
                <a:latin typeface="Calibri" pitchFamily="34" charset="0"/>
                <a:ea typeface="Calibri" pitchFamily="34" charset="-122"/>
                <a:cs typeface="Calibri" pitchFamily="34" charset="-120"/>
              </a:rPr>
              <a:t>Malta •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7315200" cy="640080"/>
          </a:xfrm>
          <a:prstGeom prst="rect">
            <a:avLst/>
          </a:prstGeom>
          <a:noFill/>
          <a:ln/>
        </p:spPr>
        <p:txBody>
          <a:bodyPr wrap="square" lIns="0" tIns="0" rIns="0" bIns="0"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The Question</a:t>
            </a:r>
            <a:endParaRPr lang="en-US" sz="3400" dirty="0"/>
          </a:p>
        </p:txBody>
      </p:sp>
      <p:sp>
        <p:nvSpPr>
          <p:cNvPr id="3" name="Text 1"/>
          <p:cNvSpPr txBox="1"/>
          <p:nvPr/>
        </p:nvSpPr>
        <p:spPr>
          <a:xfrm>
            <a:off x="548640" y="1143000"/>
            <a:ext cx="10789920" cy="822960"/>
          </a:xfrm>
          <a:prstGeom prst="rect">
            <a:avLst/>
          </a:prstGeom>
          <a:noFill/>
          <a:ln/>
        </p:spPr>
        <p:txBody>
          <a:bodyPr wrap="square" lIns="0" tIns="0" rIns="0" bIns="0" rtlCol="0" anchor="ctr"/>
          <a:lstStyle/>
          <a:p>
            <a:pPr indent="0" marL="0">
              <a:buNone/>
            </a:pPr>
            <a:r>
              <a:rPr lang="en-US" sz="1800" i="1" dirty="0">
                <a:solidFill>
                  <a:srgbClr val="1B1F26"/>
                </a:solidFill>
                <a:latin typeface="Calibri" pitchFamily="34" charset="0"/>
                <a:ea typeface="Calibri" pitchFamily="34" charset="-122"/>
                <a:cs typeface="Calibri" pitchFamily="34" charset="-120"/>
              </a:rPr>
              <a:t>Is there a single, centralized, bulk-accessible database of property owners in Malta?</a:t>
            </a:r>
            <a:endParaRPr lang="en-US" sz="1800" dirty="0"/>
          </a:p>
        </p:txBody>
      </p:sp>
      <p:sp>
        <p:nvSpPr>
          <p:cNvPr id="4" name="Shape 2"/>
          <p:cNvSpPr/>
          <p:nvPr/>
        </p:nvSpPr>
        <p:spPr>
          <a:xfrm>
            <a:off x="548640" y="2286000"/>
            <a:ext cx="11064240" cy="749808"/>
          </a:xfrm>
          <a:prstGeom prst="roundRect">
            <a:avLst>
              <a:gd name="adj" fmla="val 9756"/>
            </a:avLst>
          </a:prstGeom>
          <a:solidFill>
            <a:srgbClr val="F4F7F8"/>
          </a:solidFill>
          <a:ln/>
        </p:spPr>
      </p:sp>
      <p:sp>
        <p:nvSpPr>
          <p:cNvPr id="5" name="Shape 3"/>
          <p:cNvSpPr/>
          <p:nvPr/>
        </p:nvSpPr>
        <p:spPr>
          <a:xfrm>
            <a:off x="777240" y="2432304"/>
            <a:ext cx="457200" cy="457200"/>
          </a:xfrm>
          <a:prstGeom prst="ellipse">
            <a:avLst/>
          </a:prstGeom>
          <a:solidFill>
            <a:srgbClr val="065A82"/>
          </a:solidFill>
          <a:ln/>
        </p:spPr>
      </p:sp>
      <p:pic>
        <p:nvPicPr>
          <p:cNvPr id="6" name="Image 0" descr="/home/claude/ppt/white_icon_search_dollar.png">    </p:cNvPr>
          <p:cNvPicPr>
            <a:picLocks noChangeAspect="1"/>
          </p:cNvPicPr>
          <p:nvPr/>
        </p:nvPicPr>
        <p:blipFill>
          <a:blip r:embed="rId1"/>
          <a:stretch>
            <a:fillRect/>
          </a:stretch>
        </p:blipFill>
        <p:spPr>
          <a:xfrm>
            <a:off x="896112" y="2551176"/>
            <a:ext cx="219456" cy="219456"/>
          </a:xfrm>
          <a:prstGeom prst="rect">
            <a:avLst/>
          </a:prstGeom>
        </p:spPr>
      </p:pic>
      <p:sp>
        <p:nvSpPr>
          <p:cNvPr id="7" name="Text 4"/>
          <p:cNvSpPr txBox="1"/>
          <p:nvPr/>
        </p:nvSpPr>
        <p:spPr>
          <a:xfrm>
            <a:off x="1417320" y="2359152"/>
            <a:ext cx="2468880" cy="603504"/>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Land Registry</a:t>
            </a:r>
            <a:endParaRPr lang="en-US" sz="1400" dirty="0"/>
          </a:p>
        </p:txBody>
      </p:sp>
      <p:sp>
        <p:nvSpPr>
          <p:cNvPr id="8" name="Text 5"/>
          <p:cNvSpPr txBox="1"/>
          <p:nvPr/>
        </p:nvSpPr>
        <p:spPr>
          <a:xfrm>
            <a:off x="3931920" y="2359152"/>
            <a:ext cx="7498080" cy="603504"/>
          </a:xfrm>
          <a:prstGeom prst="rect">
            <a:avLst/>
          </a:prstGeom>
          <a:noFill/>
          <a:ln/>
        </p:spPr>
        <p:txBody>
          <a:bodyPr wrap="square" lIns="0" tIns="0" rIns="0" bIns="0" rtlCol="0" anchor="ctr"/>
          <a:lstStyle/>
          <a:p>
            <a:pPr indent="0" marL="0">
              <a:buNone/>
            </a:pPr>
            <a:r>
              <a:rPr lang="en-US" sz="1250" dirty="0">
                <a:solidFill>
                  <a:srgbClr val="1B1F26"/>
                </a:solidFill>
                <a:latin typeface="Calibri" pitchFamily="34" charset="0"/>
                <a:ea typeface="Calibri" pitchFamily="34" charset="-122"/>
                <a:cs typeface="Calibri" pitchFamily="34" charset="-120"/>
              </a:rPr>
              <a:t>Government registry of title &amp; ownership, only ~1/6 of Malta's territory covered.</a:t>
            </a:r>
            <a:endParaRPr lang="en-US" sz="1250" dirty="0"/>
          </a:p>
        </p:txBody>
      </p:sp>
      <p:sp>
        <p:nvSpPr>
          <p:cNvPr id="9" name="Shape 6"/>
          <p:cNvSpPr/>
          <p:nvPr/>
        </p:nvSpPr>
        <p:spPr>
          <a:xfrm>
            <a:off x="548640" y="3200400"/>
            <a:ext cx="11064240" cy="749808"/>
          </a:xfrm>
          <a:prstGeom prst="roundRect">
            <a:avLst>
              <a:gd name="adj" fmla="val 9756"/>
            </a:avLst>
          </a:prstGeom>
          <a:solidFill>
            <a:srgbClr val="F4F7F8"/>
          </a:solidFill>
          <a:ln/>
        </p:spPr>
      </p:sp>
      <p:sp>
        <p:nvSpPr>
          <p:cNvPr id="10" name="Shape 7"/>
          <p:cNvSpPr/>
          <p:nvPr/>
        </p:nvSpPr>
        <p:spPr>
          <a:xfrm>
            <a:off x="777240" y="3346704"/>
            <a:ext cx="457200" cy="457200"/>
          </a:xfrm>
          <a:prstGeom prst="ellipse">
            <a:avLst/>
          </a:prstGeom>
          <a:solidFill>
            <a:srgbClr val="065A82"/>
          </a:solidFill>
          <a:ln/>
        </p:spPr>
      </p:sp>
      <p:pic>
        <p:nvPicPr>
          <p:cNvPr id="11" name="Image 1" descr="/home/claude/ppt/white_icon_search_dollar.png">    </p:cNvPr>
          <p:cNvPicPr>
            <a:picLocks noChangeAspect="1"/>
          </p:cNvPicPr>
          <p:nvPr/>
        </p:nvPicPr>
        <p:blipFill>
          <a:blip r:embed="rId2"/>
          <a:stretch>
            <a:fillRect/>
          </a:stretch>
        </p:blipFill>
        <p:spPr>
          <a:xfrm>
            <a:off x="896112" y="3465576"/>
            <a:ext cx="219456" cy="219456"/>
          </a:xfrm>
          <a:prstGeom prst="rect">
            <a:avLst/>
          </a:prstGeom>
        </p:spPr>
      </p:pic>
      <p:sp>
        <p:nvSpPr>
          <p:cNvPr id="12" name="Text 8"/>
          <p:cNvSpPr txBox="1"/>
          <p:nvPr/>
        </p:nvSpPr>
        <p:spPr>
          <a:xfrm>
            <a:off x="1417320" y="3273552"/>
            <a:ext cx="2468880" cy="603504"/>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Public Registry</a:t>
            </a:r>
            <a:endParaRPr lang="en-US" sz="1400" dirty="0"/>
          </a:p>
        </p:txBody>
      </p:sp>
      <p:sp>
        <p:nvSpPr>
          <p:cNvPr id="13" name="Text 9"/>
          <p:cNvSpPr txBox="1"/>
          <p:nvPr/>
        </p:nvSpPr>
        <p:spPr>
          <a:xfrm>
            <a:off x="3931920" y="3273552"/>
            <a:ext cx="7498080" cy="603504"/>
          </a:xfrm>
          <a:prstGeom prst="rect">
            <a:avLst/>
          </a:prstGeom>
          <a:noFill/>
          <a:ln/>
        </p:spPr>
        <p:txBody>
          <a:bodyPr wrap="square" lIns="0" tIns="0" rIns="0" bIns="0" rtlCol="0" anchor="ctr"/>
          <a:lstStyle/>
          <a:p>
            <a:pPr indent="0" marL="0">
              <a:buNone/>
            </a:pPr>
            <a:r>
              <a:rPr lang="en-US" sz="1250" dirty="0">
                <a:solidFill>
                  <a:srgbClr val="1B1F26"/>
                </a:solidFill>
                <a:latin typeface="Calibri" pitchFamily="34" charset="0"/>
                <a:ea typeface="Calibri" pitchFamily="34" charset="-122"/>
                <a:cs typeface="Calibri" pitchFamily="34" charset="-120"/>
              </a:rPr>
              <a:t>Older name-based deed registry; searches done through a Searches Unit.</a:t>
            </a:r>
            <a:endParaRPr lang="en-US" sz="1250" dirty="0"/>
          </a:p>
        </p:txBody>
      </p:sp>
      <p:sp>
        <p:nvSpPr>
          <p:cNvPr id="14" name="Shape 10"/>
          <p:cNvSpPr/>
          <p:nvPr/>
        </p:nvSpPr>
        <p:spPr>
          <a:xfrm>
            <a:off x="548640" y="4114800"/>
            <a:ext cx="11064240" cy="749808"/>
          </a:xfrm>
          <a:prstGeom prst="roundRect">
            <a:avLst>
              <a:gd name="adj" fmla="val 9756"/>
            </a:avLst>
          </a:prstGeom>
          <a:solidFill>
            <a:srgbClr val="F4F7F8"/>
          </a:solidFill>
          <a:ln/>
        </p:spPr>
      </p:sp>
      <p:sp>
        <p:nvSpPr>
          <p:cNvPr id="15" name="Shape 11"/>
          <p:cNvSpPr/>
          <p:nvPr/>
        </p:nvSpPr>
        <p:spPr>
          <a:xfrm>
            <a:off x="777240" y="4261104"/>
            <a:ext cx="457200" cy="457200"/>
          </a:xfrm>
          <a:prstGeom prst="ellipse">
            <a:avLst/>
          </a:prstGeom>
          <a:solidFill>
            <a:srgbClr val="065A82"/>
          </a:solidFill>
          <a:ln/>
        </p:spPr>
      </p:sp>
      <p:pic>
        <p:nvPicPr>
          <p:cNvPr id="16" name="Image 2" descr="/home/claude/ppt/white_icon_search_dollar.png">    </p:cNvPr>
          <p:cNvPicPr>
            <a:picLocks noChangeAspect="1"/>
          </p:cNvPicPr>
          <p:nvPr/>
        </p:nvPicPr>
        <p:blipFill>
          <a:blip r:embed="rId3"/>
          <a:stretch>
            <a:fillRect/>
          </a:stretch>
        </p:blipFill>
        <p:spPr>
          <a:xfrm>
            <a:off x="896112" y="4379976"/>
            <a:ext cx="219456" cy="219456"/>
          </a:xfrm>
          <a:prstGeom prst="rect">
            <a:avLst/>
          </a:prstGeom>
        </p:spPr>
      </p:pic>
      <p:sp>
        <p:nvSpPr>
          <p:cNvPr id="17" name="Text 12"/>
          <p:cNvSpPr txBox="1"/>
          <p:nvPr/>
        </p:nvSpPr>
        <p:spPr>
          <a:xfrm>
            <a:off x="1417320" y="4187952"/>
            <a:ext cx="2468880" cy="603504"/>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Business Registry</a:t>
            </a:r>
            <a:endParaRPr lang="en-US" sz="1400" dirty="0"/>
          </a:p>
        </p:txBody>
      </p:sp>
      <p:sp>
        <p:nvSpPr>
          <p:cNvPr id="18" name="Text 13"/>
          <p:cNvSpPr txBox="1"/>
          <p:nvPr/>
        </p:nvSpPr>
        <p:spPr>
          <a:xfrm>
            <a:off x="3931920" y="4187952"/>
            <a:ext cx="7498080" cy="603504"/>
          </a:xfrm>
          <a:prstGeom prst="rect">
            <a:avLst/>
          </a:prstGeom>
          <a:noFill/>
          <a:ln/>
        </p:spPr>
        <p:txBody>
          <a:bodyPr wrap="square" lIns="0" tIns="0" rIns="0" bIns="0" rtlCol="0" anchor="ctr"/>
          <a:lstStyle/>
          <a:p>
            <a:pPr indent="0" marL="0">
              <a:buNone/>
            </a:pPr>
            <a:r>
              <a:rPr lang="en-US" sz="1250" dirty="0">
                <a:solidFill>
                  <a:srgbClr val="1B1F26"/>
                </a:solidFill>
                <a:latin typeface="Calibri" pitchFamily="34" charset="0"/>
                <a:ea typeface="Calibri" pitchFamily="34" charset="-122"/>
                <a:cs typeface="Calibri" pitchFamily="34" charset="-120"/>
              </a:rPr>
              <a:t>Company ownership — public &amp; searchable, but only for corporate-held property.</a:t>
            </a:r>
            <a:endParaRPr lang="en-US" sz="1250" dirty="0"/>
          </a:p>
        </p:txBody>
      </p:sp>
      <p:sp>
        <p:nvSpPr>
          <p:cNvPr id="19" name="Shape 14"/>
          <p:cNvSpPr/>
          <p:nvPr/>
        </p:nvSpPr>
        <p:spPr>
          <a:xfrm>
            <a:off x="548640" y="5029200"/>
            <a:ext cx="11064240" cy="749808"/>
          </a:xfrm>
          <a:prstGeom prst="roundRect">
            <a:avLst>
              <a:gd name="adj" fmla="val 9756"/>
            </a:avLst>
          </a:prstGeom>
          <a:solidFill>
            <a:srgbClr val="F4F7F8"/>
          </a:solidFill>
          <a:ln/>
        </p:spPr>
      </p:sp>
      <p:sp>
        <p:nvSpPr>
          <p:cNvPr id="20" name="Shape 15"/>
          <p:cNvSpPr/>
          <p:nvPr/>
        </p:nvSpPr>
        <p:spPr>
          <a:xfrm>
            <a:off x="777240" y="5175504"/>
            <a:ext cx="457200" cy="457200"/>
          </a:xfrm>
          <a:prstGeom prst="ellipse">
            <a:avLst/>
          </a:prstGeom>
          <a:solidFill>
            <a:srgbClr val="065A82"/>
          </a:solidFill>
          <a:ln/>
        </p:spPr>
      </p:sp>
      <p:pic>
        <p:nvPicPr>
          <p:cNvPr id="21" name="Image 3" descr="/home/claude/ppt/white_icon_search_dollar.png">    </p:cNvPr>
          <p:cNvPicPr>
            <a:picLocks noChangeAspect="1"/>
          </p:cNvPicPr>
          <p:nvPr/>
        </p:nvPicPr>
        <p:blipFill>
          <a:blip r:embed="rId4"/>
          <a:stretch>
            <a:fillRect/>
          </a:stretch>
        </p:blipFill>
        <p:spPr>
          <a:xfrm>
            <a:off x="896112" y="5294376"/>
            <a:ext cx="219456" cy="219456"/>
          </a:xfrm>
          <a:prstGeom prst="rect">
            <a:avLst/>
          </a:prstGeom>
        </p:spPr>
      </p:pic>
      <p:sp>
        <p:nvSpPr>
          <p:cNvPr id="22" name="Text 16"/>
          <p:cNvSpPr txBox="1"/>
          <p:nvPr/>
        </p:nvSpPr>
        <p:spPr>
          <a:xfrm>
            <a:off x="1417320" y="5102352"/>
            <a:ext cx="2468880" cy="603504"/>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Data brokers</a:t>
            </a:r>
            <a:endParaRPr lang="en-US" sz="1400" dirty="0"/>
          </a:p>
        </p:txBody>
      </p:sp>
      <p:sp>
        <p:nvSpPr>
          <p:cNvPr id="23" name="Text 17"/>
          <p:cNvSpPr txBox="1"/>
          <p:nvPr/>
        </p:nvSpPr>
        <p:spPr>
          <a:xfrm>
            <a:off x="3931920" y="5102352"/>
            <a:ext cx="7498080" cy="603504"/>
          </a:xfrm>
          <a:prstGeom prst="rect">
            <a:avLst/>
          </a:prstGeom>
          <a:noFill/>
          <a:ln/>
        </p:spPr>
        <p:txBody>
          <a:bodyPr wrap="square" lIns="0" tIns="0" rIns="0" bIns="0" rtlCol="0" anchor="ctr"/>
          <a:lstStyle/>
          <a:p>
            <a:pPr indent="0" marL="0">
              <a:buNone/>
            </a:pPr>
            <a:r>
              <a:rPr lang="en-US" sz="1250" dirty="0">
                <a:solidFill>
                  <a:srgbClr val="1B1F26"/>
                </a:solidFill>
                <a:latin typeface="Calibri" pitchFamily="34" charset="0"/>
                <a:ea typeface="Calibri" pitchFamily="34" charset="-122"/>
                <a:cs typeface="Calibri" pitchFamily="34" charset="-120"/>
              </a:rPr>
              <a:t>Homeowner list providers (e.g. CoreLogic) exist in the US — no equivalent in Malta.</a:t>
            </a:r>
            <a:endParaRPr lang="en-US" sz="1250" dirty="0"/>
          </a:p>
        </p:txBody>
      </p:sp>
      <p:sp>
        <p:nvSpPr>
          <p:cNvPr id="24" name="Text 18"/>
          <p:cNvSpPr/>
          <p:nvPr/>
        </p:nvSpPr>
        <p:spPr>
          <a:xfrm>
            <a:off x="457200" y="6519672"/>
            <a:ext cx="7315200" cy="274320"/>
          </a:xfrm>
          <a:prstGeom prst="rect">
            <a:avLst/>
          </a:prstGeom>
          <a:noFill/>
          <a:ln/>
        </p:spPr>
        <p:txBody>
          <a:bodyPr wrap="square" rtlCol="0" anchor="ctr"/>
          <a:lstStyle/>
          <a:p>
            <a:pPr indent="0" marL="0">
              <a:buNone/>
            </a:pPr>
            <a:r>
              <a:rPr lang="en-US" sz="900" dirty="0">
                <a:solidFill>
                  <a:srgbClr val="5C6B73"/>
                </a:solidFill>
                <a:latin typeface="Calibri" pitchFamily="34" charset="0"/>
                <a:ea typeface="Calibri" pitchFamily="34" charset="-122"/>
                <a:cs typeface="Calibri" pitchFamily="34" charset="-120"/>
              </a:rPr>
              <a:t>Slide 2</a:t>
            </a:r>
            <a:endParaRPr lang="en-US" sz="900" dirty="0"/>
          </a:p>
        </p:txBody>
      </p:sp>
      <p:sp>
        <p:nvSpPr>
          <p:cNvPr id="25" name="Text 19"/>
          <p:cNvSpPr/>
          <p:nvPr/>
        </p:nvSpPr>
        <p:spPr>
          <a:xfrm>
            <a:off x="7772400" y="6519672"/>
            <a:ext cx="3931920" cy="274320"/>
          </a:xfrm>
          <a:prstGeom prst="rect">
            <a:avLst/>
          </a:prstGeom>
          <a:noFill/>
          <a:ln/>
        </p:spPr>
        <p:txBody>
          <a:bodyPr wrap="square" rtlCol="0" anchor="ctr"/>
          <a:lstStyle/>
          <a:p>
            <a:pPr algn="r" indent="0" marL="0">
              <a:buNone/>
            </a:pPr>
            <a:r>
              <a:rPr lang="en-US" sz="900" dirty="0">
                <a:solidFill>
                  <a:srgbClr val="5C6B73"/>
                </a:solidFill>
                <a:latin typeface="Calibri" pitchFamily="34" charset="0"/>
                <a:ea typeface="Calibri" pitchFamily="34" charset="-122"/>
                <a:cs typeface="Calibri" pitchFamily="34" charset="-120"/>
              </a:rPr>
              <a:t>Malta Property Owner Data — Research Summary</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8"/>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Short Answer: No Open Bulk Database Exists</a:t>
            </a:r>
            <a:endParaRPr lang="en-US" sz="3000" dirty="0"/>
          </a:p>
        </p:txBody>
      </p:sp>
      <p:sp>
        <p:nvSpPr>
          <p:cNvPr id="3" name="Shape 1"/>
          <p:cNvSpPr/>
          <p:nvPr/>
        </p:nvSpPr>
        <p:spPr>
          <a:xfrm>
            <a:off x="548640" y="1371600"/>
            <a:ext cx="3566160" cy="4206240"/>
          </a:xfrm>
          <a:prstGeom prst="roundRect">
            <a:avLst>
              <a:gd name="adj" fmla="val 3077"/>
            </a:avLst>
          </a:prstGeom>
          <a:solidFill>
            <a:srgbClr val="FFFFFF"/>
          </a:solidFill>
          <a:ln/>
          <a:effectLst>
            <a:outerShdw sx="100000" sy="100000" kx="0" ky="0" algn="bl" rotWithShape="0" blurRad="101600" dist="38100" dir="5400000">
              <a:srgbClr val="888888">
                <a:alpha val="25000"/>
              </a:srgbClr>
            </a:outerShdw>
          </a:effectLst>
        </p:spPr>
      </p:sp>
      <p:sp>
        <p:nvSpPr>
          <p:cNvPr id="4" name="Shape 2"/>
          <p:cNvSpPr/>
          <p:nvPr/>
        </p:nvSpPr>
        <p:spPr>
          <a:xfrm>
            <a:off x="822960" y="1691640"/>
            <a:ext cx="640080" cy="640080"/>
          </a:xfrm>
          <a:prstGeom prst="ellipse">
            <a:avLst/>
          </a:prstGeom>
          <a:solidFill>
            <a:srgbClr val="B85042"/>
          </a:solidFill>
          <a:ln/>
        </p:spPr>
      </p:sp>
      <p:pic>
        <p:nvPicPr>
          <p:cNvPr id="5" name="Image 0" descr="/home/claude/ppt/white_icon_lock.png">    </p:cNvPr>
          <p:cNvPicPr>
            <a:picLocks noChangeAspect="1"/>
          </p:cNvPicPr>
          <p:nvPr/>
        </p:nvPicPr>
        <p:blipFill>
          <a:blip r:embed="rId1"/>
          <a:stretch>
            <a:fillRect/>
          </a:stretch>
        </p:blipFill>
        <p:spPr>
          <a:xfrm>
            <a:off x="978408" y="1847088"/>
            <a:ext cx="329184" cy="329184"/>
          </a:xfrm>
          <a:prstGeom prst="rect">
            <a:avLst/>
          </a:prstGeom>
        </p:spPr>
      </p:pic>
      <p:sp>
        <p:nvSpPr>
          <p:cNvPr id="6" name="Text 3"/>
          <p:cNvSpPr txBox="1"/>
          <p:nvPr/>
        </p:nvSpPr>
        <p:spPr>
          <a:xfrm>
            <a:off x="822960" y="2514600"/>
            <a:ext cx="3017520" cy="731520"/>
          </a:xfrm>
          <a:prstGeom prst="rect">
            <a:avLst/>
          </a:prstGeom>
          <a:noFill/>
          <a:ln/>
        </p:spPr>
        <p:txBody>
          <a:bodyPr wrap="square" lIns="0" tIns="0" rIns="0" bIns="0" rtlCol="0" anchor="ctr"/>
          <a:lstStyle/>
          <a:p>
            <a:pPr indent="0" marL="0">
              <a:buNone/>
            </a:pPr>
            <a:r>
              <a:rPr lang="en-US" sz="1550" b="1" dirty="0">
                <a:solidFill>
                  <a:srgbClr val="21295C"/>
                </a:solidFill>
                <a:latin typeface="Calibri" pitchFamily="34" charset="0"/>
                <a:ea typeface="Calibri" pitchFamily="34" charset="-122"/>
                <a:cs typeface="Calibri" pitchFamily="34" charset="-120"/>
              </a:rPr>
              <a:t>Land Registry — Staff Only</a:t>
            </a:r>
            <a:endParaRPr lang="en-US" sz="1550" dirty="0"/>
          </a:p>
        </p:txBody>
      </p:sp>
      <p:sp>
        <p:nvSpPr>
          <p:cNvPr id="7" name="Text 4"/>
          <p:cNvSpPr txBox="1"/>
          <p:nvPr/>
        </p:nvSpPr>
        <p:spPr>
          <a:xfrm>
            <a:off x="822960" y="3200400"/>
            <a:ext cx="3017520" cy="2194560"/>
          </a:xfrm>
          <a:prstGeom prst="rect">
            <a:avLst/>
          </a:prstGeom>
          <a:noFill/>
          <a:ln/>
        </p:spPr>
        <p:txBody>
          <a:bodyPr wrap="square" lIns="0" tIns="0" rIns="0" bIns="0" rtlCol="0" anchor="ctr"/>
          <a:lstStyle/>
          <a:p>
            <a:pPr indent="0" marL="0">
              <a:lnSpc>
                <a:spcPct val="115000"/>
              </a:lnSpc>
              <a:buNone/>
            </a:pPr>
            <a:r>
              <a:rPr lang="en-US" sz="1200" dirty="0">
                <a:solidFill>
                  <a:srgbClr val="1B1F26"/>
                </a:solidFill>
                <a:latin typeface="Calibri" pitchFamily="34" charset="0"/>
                <a:ea typeface="Calibri" pitchFamily="34" charset="-122"/>
                <a:cs typeface="Calibri" pitchFamily="34" charset="-120"/>
              </a:rPr>
              <a:t>The electronic register is accessible only to Land Registry employees and two other government departments (read-only). Official searches cost about €4.66 each, submitted one at a time.</a:t>
            </a:r>
            <a:endParaRPr lang="en-US" sz="1200" dirty="0"/>
          </a:p>
        </p:txBody>
      </p:sp>
      <p:sp>
        <p:nvSpPr>
          <p:cNvPr id="8" name="Shape 5"/>
          <p:cNvSpPr/>
          <p:nvPr/>
        </p:nvSpPr>
        <p:spPr>
          <a:xfrm>
            <a:off x="4389120" y="1371600"/>
            <a:ext cx="3566160" cy="4206240"/>
          </a:xfrm>
          <a:prstGeom prst="roundRect">
            <a:avLst>
              <a:gd name="adj" fmla="val 3077"/>
            </a:avLst>
          </a:prstGeom>
          <a:solidFill>
            <a:srgbClr val="FFFFFF"/>
          </a:solidFill>
          <a:ln/>
          <a:effectLst>
            <a:outerShdw sx="100000" sy="100000" kx="0" ky="0" algn="bl" rotWithShape="0" blurRad="101600" dist="38100" dir="5400000">
              <a:srgbClr val="888888">
                <a:alpha val="25000"/>
              </a:srgbClr>
            </a:outerShdw>
          </a:effectLst>
        </p:spPr>
      </p:sp>
      <p:sp>
        <p:nvSpPr>
          <p:cNvPr id="9" name="Shape 6"/>
          <p:cNvSpPr/>
          <p:nvPr/>
        </p:nvSpPr>
        <p:spPr>
          <a:xfrm>
            <a:off x="4663440" y="1691640"/>
            <a:ext cx="640080" cy="640080"/>
          </a:xfrm>
          <a:prstGeom prst="ellipse">
            <a:avLst/>
          </a:prstGeom>
          <a:solidFill>
            <a:srgbClr val="B85042"/>
          </a:solidFill>
          <a:ln/>
        </p:spPr>
      </p:sp>
      <p:pic>
        <p:nvPicPr>
          <p:cNvPr id="10" name="Image 1" descr="/home/claude/ppt/white_icon_clipboard.png">    </p:cNvPr>
          <p:cNvPicPr>
            <a:picLocks noChangeAspect="1"/>
          </p:cNvPicPr>
          <p:nvPr/>
        </p:nvPicPr>
        <p:blipFill>
          <a:blip r:embed="rId2"/>
          <a:stretch>
            <a:fillRect/>
          </a:stretch>
        </p:blipFill>
        <p:spPr>
          <a:xfrm>
            <a:off x="4818888" y="1847088"/>
            <a:ext cx="329184" cy="329184"/>
          </a:xfrm>
          <a:prstGeom prst="rect">
            <a:avLst/>
          </a:prstGeom>
        </p:spPr>
      </p:pic>
      <p:sp>
        <p:nvSpPr>
          <p:cNvPr id="11" name="Text 7"/>
          <p:cNvSpPr txBox="1"/>
          <p:nvPr/>
        </p:nvSpPr>
        <p:spPr>
          <a:xfrm>
            <a:off x="4663440" y="2514600"/>
            <a:ext cx="3017520" cy="731520"/>
          </a:xfrm>
          <a:prstGeom prst="rect">
            <a:avLst/>
          </a:prstGeom>
          <a:noFill/>
          <a:ln/>
        </p:spPr>
        <p:txBody>
          <a:bodyPr wrap="square" lIns="0" tIns="0" rIns="0" bIns="0" rtlCol="0" anchor="ctr"/>
          <a:lstStyle/>
          <a:p>
            <a:pPr indent="0" marL="0">
              <a:buNone/>
            </a:pPr>
            <a:r>
              <a:rPr lang="en-US" sz="1550" b="1" dirty="0">
                <a:solidFill>
                  <a:srgbClr val="21295C"/>
                </a:solidFill>
                <a:latin typeface="Calibri" pitchFamily="34" charset="0"/>
                <a:ea typeface="Calibri" pitchFamily="34" charset="-122"/>
                <a:cs typeface="Calibri" pitchFamily="34" charset="-120"/>
              </a:rPr>
              <a:t>Public Registry — Name-Based</a:t>
            </a:r>
            <a:endParaRPr lang="en-US" sz="1550" dirty="0"/>
          </a:p>
        </p:txBody>
      </p:sp>
      <p:sp>
        <p:nvSpPr>
          <p:cNvPr id="12" name="Text 8"/>
          <p:cNvSpPr txBox="1"/>
          <p:nvPr/>
        </p:nvSpPr>
        <p:spPr>
          <a:xfrm>
            <a:off x="4663440" y="3200400"/>
            <a:ext cx="3017520" cy="2194560"/>
          </a:xfrm>
          <a:prstGeom prst="rect">
            <a:avLst/>
          </a:prstGeom>
          <a:noFill/>
          <a:ln/>
        </p:spPr>
        <p:txBody>
          <a:bodyPr wrap="square" lIns="0" tIns="0" rIns="0" bIns="0" rtlCol="0" anchor="ctr"/>
          <a:lstStyle/>
          <a:p>
            <a:pPr indent="0" marL="0">
              <a:lnSpc>
                <a:spcPct val="115000"/>
              </a:lnSpc>
              <a:buNone/>
            </a:pPr>
            <a:r>
              <a:rPr lang="en-US" sz="1200" dirty="0">
                <a:solidFill>
                  <a:srgbClr val="1B1F26"/>
                </a:solidFill>
                <a:latin typeface="Calibri" pitchFamily="34" charset="0"/>
                <a:ea typeface="Calibri" pitchFamily="34" charset="-122"/>
                <a:cs typeface="Calibri" pitchFamily="34" charset="-120"/>
              </a:rPr>
              <a:t>Searches focus on a person's name, not a property, via the Searches Unit. Each search is a paid, individual request — not a bulk export.</a:t>
            </a:r>
            <a:endParaRPr lang="en-US" sz="1200" dirty="0"/>
          </a:p>
        </p:txBody>
      </p:sp>
      <p:sp>
        <p:nvSpPr>
          <p:cNvPr id="13" name="Shape 9"/>
          <p:cNvSpPr/>
          <p:nvPr/>
        </p:nvSpPr>
        <p:spPr>
          <a:xfrm>
            <a:off x="8229600" y="1371600"/>
            <a:ext cx="3566160" cy="4206240"/>
          </a:xfrm>
          <a:prstGeom prst="roundRect">
            <a:avLst>
              <a:gd name="adj" fmla="val 3077"/>
            </a:avLst>
          </a:prstGeom>
          <a:solidFill>
            <a:srgbClr val="FFFFFF"/>
          </a:solidFill>
          <a:ln/>
          <a:effectLst>
            <a:outerShdw sx="100000" sy="100000" kx="0" ky="0" algn="bl" rotWithShape="0" blurRad="101600" dist="38100" dir="5400000">
              <a:srgbClr val="888888">
                <a:alpha val="25000"/>
              </a:srgbClr>
            </a:outerShdw>
          </a:effectLst>
        </p:spPr>
      </p:sp>
      <p:sp>
        <p:nvSpPr>
          <p:cNvPr id="14" name="Shape 10"/>
          <p:cNvSpPr/>
          <p:nvPr/>
        </p:nvSpPr>
        <p:spPr>
          <a:xfrm>
            <a:off x="8503920" y="1691640"/>
            <a:ext cx="640080" cy="640080"/>
          </a:xfrm>
          <a:prstGeom prst="ellipse">
            <a:avLst/>
          </a:prstGeom>
          <a:solidFill>
            <a:srgbClr val="B85042"/>
          </a:solidFill>
          <a:ln/>
        </p:spPr>
      </p:sp>
      <p:pic>
        <p:nvPicPr>
          <p:cNvPr id="15" name="Image 2" descr="/home/claude/ppt/white_icon_warning.png">    </p:cNvPr>
          <p:cNvPicPr>
            <a:picLocks noChangeAspect="1"/>
          </p:cNvPicPr>
          <p:nvPr/>
        </p:nvPicPr>
        <p:blipFill>
          <a:blip r:embed="rId3"/>
          <a:stretch>
            <a:fillRect/>
          </a:stretch>
        </p:blipFill>
        <p:spPr>
          <a:xfrm>
            <a:off x="8659368" y="1847088"/>
            <a:ext cx="329184" cy="329184"/>
          </a:xfrm>
          <a:prstGeom prst="rect">
            <a:avLst/>
          </a:prstGeom>
        </p:spPr>
      </p:pic>
      <p:sp>
        <p:nvSpPr>
          <p:cNvPr id="16" name="Text 11"/>
          <p:cNvSpPr txBox="1"/>
          <p:nvPr/>
        </p:nvSpPr>
        <p:spPr>
          <a:xfrm>
            <a:off x="8503920" y="2514600"/>
            <a:ext cx="3017520" cy="731520"/>
          </a:xfrm>
          <a:prstGeom prst="rect">
            <a:avLst/>
          </a:prstGeom>
          <a:noFill/>
          <a:ln/>
        </p:spPr>
        <p:txBody>
          <a:bodyPr wrap="square" lIns="0" tIns="0" rIns="0" bIns="0" rtlCol="0" anchor="ctr"/>
          <a:lstStyle/>
          <a:p>
            <a:pPr indent="0" marL="0">
              <a:buNone/>
            </a:pPr>
            <a:r>
              <a:rPr lang="en-US" sz="1550" b="1" dirty="0">
                <a:solidFill>
                  <a:srgbClr val="21295C"/>
                </a:solidFill>
                <a:latin typeface="Calibri" pitchFamily="34" charset="0"/>
                <a:ea typeface="Calibri" pitchFamily="34" charset="-122"/>
                <a:cs typeface="Calibri" pitchFamily="34" charset="-120"/>
              </a:rPr>
              <a:t>No Data-Broker Equivalent</a:t>
            </a:r>
            <a:endParaRPr lang="en-US" sz="1550" dirty="0"/>
          </a:p>
        </p:txBody>
      </p:sp>
      <p:sp>
        <p:nvSpPr>
          <p:cNvPr id="17" name="Text 12"/>
          <p:cNvSpPr txBox="1"/>
          <p:nvPr/>
        </p:nvSpPr>
        <p:spPr>
          <a:xfrm>
            <a:off x="8503920" y="3200400"/>
            <a:ext cx="3017520" cy="2194560"/>
          </a:xfrm>
          <a:prstGeom prst="rect">
            <a:avLst/>
          </a:prstGeom>
          <a:noFill/>
          <a:ln/>
        </p:spPr>
        <p:txBody>
          <a:bodyPr wrap="square" lIns="0" tIns="0" rIns="0" bIns="0" rtlCol="0" anchor="ctr"/>
          <a:lstStyle/>
          <a:p>
            <a:pPr indent="0" marL="0">
              <a:lnSpc>
                <a:spcPct val="115000"/>
              </a:lnSpc>
              <a:buNone/>
            </a:pPr>
            <a:r>
              <a:rPr lang="en-US" sz="1200" dirty="0">
                <a:solidFill>
                  <a:srgbClr val="1B1F26"/>
                </a:solidFill>
                <a:latin typeface="Calibri" pitchFamily="34" charset="0"/>
                <a:ea typeface="Calibri" pitchFamily="34" charset="-122"/>
                <a:cs typeface="Calibri" pitchFamily="34" charset="-120"/>
              </a:rPr>
              <a:t>Providers like CoreLogic sell bulk homeowner lists in the US because assessor records are open. That records infrastructure does not exist in Malta, so no legitimate reseller can offer the same.</a:t>
            </a:r>
            <a:endParaRPr lang="en-US" sz="1200" dirty="0"/>
          </a:p>
        </p:txBody>
      </p:sp>
      <p:sp>
        <p:nvSpPr>
          <p:cNvPr id="18" name="Text 13"/>
          <p:cNvSpPr/>
          <p:nvPr/>
        </p:nvSpPr>
        <p:spPr>
          <a:xfrm>
            <a:off x="457200" y="6519672"/>
            <a:ext cx="7315200" cy="274320"/>
          </a:xfrm>
          <a:prstGeom prst="rect">
            <a:avLst/>
          </a:prstGeom>
          <a:noFill/>
          <a:ln/>
        </p:spPr>
        <p:txBody>
          <a:bodyPr wrap="square" rtlCol="0" anchor="ctr"/>
          <a:lstStyle/>
          <a:p>
            <a:pPr indent="0" marL="0">
              <a:buNone/>
            </a:pPr>
            <a:r>
              <a:rPr lang="en-US" sz="900" dirty="0">
                <a:solidFill>
                  <a:srgbClr val="5C6B73"/>
                </a:solidFill>
                <a:latin typeface="Calibri" pitchFamily="34" charset="0"/>
                <a:ea typeface="Calibri" pitchFamily="34" charset="-122"/>
                <a:cs typeface="Calibri" pitchFamily="34" charset="-120"/>
              </a:rPr>
              <a:t>Slide 3</a:t>
            </a:r>
            <a:endParaRPr lang="en-US" sz="900" dirty="0"/>
          </a:p>
        </p:txBody>
      </p:sp>
      <p:sp>
        <p:nvSpPr>
          <p:cNvPr id="19" name="Text 14"/>
          <p:cNvSpPr/>
          <p:nvPr/>
        </p:nvSpPr>
        <p:spPr>
          <a:xfrm>
            <a:off x="7772400" y="6519672"/>
            <a:ext cx="3931920" cy="274320"/>
          </a:xfrm>
          <a:prstGeom prst="rect">
            <a:avLst/>
          </a:prstGeom>
          <a:noFill/>
          <a:ln/>
        </p:spPr>
        <p:txBody>
          <a:bodyPr wrap="square" rtlCol="0" anchor="ctr"/>
          <a:lstStyle/>
          <a:p>
            <a:pPr algn="r" indent="0" marL="0">
              <a:buNone/>
            </a:pPr>
            <a:r>
              <a:rPr lang="en-US" sz="900" dirty="0">
                <a:solidFill>
                  <a:srgbClr val="5C6B73"/>
                </a:solidFill>
                <a:latin typeface="Calibri" pitchFamily="34" charset="0"/>
                <a:ea typeface="Calibri" pitchFamily="34" charset="-122"/>
                <a:cs typeface="Calibri" pitchFamily="34" charset="-120"/>
              </a:rPr>
              <a:t>Malta Property Owner Data — Research Summary</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What Actually Works: Three Practical Sources</a:t>
            </a:r>
            <a:endParaRPr lang="en-US" sz="2800" dirty="0"/>
          </a:p>
        </p:txBody>
      </p:sp>
      <p:sp>
        <p:nvSpPr>
          <p:cNvPr id="3" name="Text 1"/>
          <p:cNvSpPr txBox="1"/>
          <p:nvPr/>
        </p:nvSpPr>
        <p:spPr>
          <a:xfrm>
            <a:off x="548640" y="1005840"/>
            <a:ext cx="10972800" cy="365760"/>
          </a:xfrm>
          <a:prstGeom prst="rect">
            <a:avLst/>
          </a:prstGeom>
          <a:noFill/>
          <a:ln/>
        </p:spPr>
        <p:txBody>
          <a:bodyPr wrap="square" lIns="0" tIns="0" rIns="0" bIns="0" rtlCol="0" anchor="ctr"/>
          <a:lstStyle/>
          <a:p>
            <a:pPr indent="0" marL="0">
              <a:buNone/>
            </a:pPr>
            <a:r>
              <a:rPr lang="en-US" sz="1400" i="1" dirty="0">
                <a:solidFill>
                  <a:srgbClr val="5C6B73"/>
                </a:solidFill>
                <a:latin typeface="Calibri" pitchFamily="34" charset="0"/>
                <a:ea typeface="Calibri" pitchFamily="34" charset="-122"/>
                <a:cs typeface="Calibri" pitchFamily="34" charset="-120"/>
              </a:rPr>
              <a:t>No single database — but three legitimate, complementary sources cover the short-let market</a:t>
            </a:r>
            <a:endParaRPr lang="en-US" sz="1400" dirty="0"/>
          </a:p>
        </p:txBody>
      </p:sp>
      <p:sp>
        <p:nvSpPr>
          <p:cNvPr id="4" name="Shape 2"/>
          <p:cNvSpPr/>
          <p:nvPr/>
        </p:nvSpPr>
        <p:spPr>
          <a:xfrm>
            <a:off x="548640" y="1600200"/>
            <a:ext cx="3611880" cy="4480560"/>
          </a:xfrm>
          <a:prstGeom prst="roundRect">
            <a:avLst>
              <a:gd name="adj" fmla="val 3038"/>
            </a:avLst>
          </a:prstGeom>
          <a:solidFill>
            <a:srgbClr val="065A82"/>
          </a:solidFill>
          <a:ln/>
        </p:spPr>
      </p:sp>
      <p:sp>
        <p:nvSpPr>
          <p:cNvPr id="5" name="Text 3"/>
          <p:cNvSpPr txBox="1"/>
          <p:nvPr/>
        </p:nvSpPr>
        <p:spPr>
          <a:xfrm>
            <a:off x="822960" y="1783080"/>
            <a:ext cx="3017520" cy="320040"/>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TIER 1</a:t>
            </a:r>
            <a:endParaRPr lang="en-US" sz="1100" dirty="0"/>
          </a:p>
        </p:txBody>
      </p:sp>
      <p:sp>
        <p:nvSpPr>
          <p:cNvPr id="6" name="Shape 4"/>
          <p:cNvSpPr/>
          <p:nvPr/>
        </p:nvSpPr>
        <p:spPr>
          <a:xfrm>
            <a:off x="822960" y="2148840"/>
            <a:ext cx="594360" cy="594360"/>
          </a:xfrm>
          <a:prstGeom prst="ellipse">
            <a:avLst/>
          </a:prstGeom>
          <a:solidFill>
            <a:srgbClr val="FFFFFF"/>
          </a:solidFill>
          <a:ln/>
        </p:spPr>
      </p:sp>
      <p:pic>
        <p:nvPicPr>
          <p:cNvPr id="7" name="Image 0" descr="/home/claude/ppt/icon_globe.png">    </p:cNvPr>
          <p:cNvPicPr>
            <a:picLocks noChangeAspect="1"/>
          </p:cNvPicPr>
          <p:nvPr/>
        </p:nvPicPr>
        <p:blipFill>
          <a:blip r:embed="rId1"/>
          <a:stretch>
            <a:fillRect/>
          </a:stretch>
        </p:blipFill>
        <p:spPr>
          <a:xfrm>
            <a:off x="969264" y="2295144"/>
            <a:ext cx="310896" cy="310896"/>
          </a:xfrm>
          <a:prstGeom prst="rect">
            <a:avLst/>
          </a:prstGeom>
        </p:spPr>
      </p:pic>
      <p:sp>
        <p:nvSpPr>
          <p:cNvPr id="8" name="Text 5"/>
          <p:cNvSpPr txBox="1"/>
          <p:nvPr/>
        </p:nvSpPr>
        <p:spPr>
          <a:xfrm>
            <a:off x="822960" y="2880360"/>
            <a:ext cx="3108960" cy="6858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MTA Licensed Establishments</a:t>
            </a:r>
            <a:endParaRPr lang="en-US" sz="1600" dirty="0"/>
          </a:p>
        </p:txBody>
      </p:sp>
      <p:sp>
        <p:nvSpPr>
          <p:cNvPr id="9" name="Text 6"/>
          <p:cNvSpPr txBox="1"/>
          <p:nvPr/>
        </p:nvSpPr>
        <p:spPr>
          <a:xfrm>
            <a:off x="822960" y="3566160"/>
            <a:ext cx="3108960" cy="502920"/>
          </a:xfrm>
          <a:prstGeom prst="rect">
            <a:avLst/>
          </a:prstGeom>
          <a:noFill/>
          <a:ln/>
        </p:spPr>
        <p:txBody>
          <a:bodyPr wrap="square" lIns="0" tIns="0" rIns="0" bIns="0" rtlCol="0" anchor="ctr"/>
          <a:lstStyle/>
          <a:p>
            <a:pPr indent="0" marL="0">
              <a:buNone/>
            </a:pPr>
            <a:r>
              <a:rPr lang="en-US" sz="2600" b="1" dirty="0">
                <a:solidFill>
                  <a:srgbClr val="E8A33D"/>
                </a:solidFill>
                <a:latin typeface="Cambria" pitchFamily="34" charset="0"/>
                <a:ea typeface="Cambria" pitchFamily="34" charset="-122"/>
                <a:cs typeface="Cambria" pitchFamily="34" charset="-120"/>
              </a:rPr>
              <a:t>7,055+</a:t>
            </a:r>
            <a:endParaRPr lang="en-US" sz="2600" dirty="0"/>
          </a:p>
        </p:txBody>
      </p:sp>
      <p:sp>
        <p:nvSpPr>
          <p:cNvPr id="10" name="Text 7"/>
          <p:cNvSpPr txBox="1"/>
          <p:nvPr/>
        </p:nvSpPr>
        <p:spPr>
          <a:xfrm>
            <a:off x="822960" y="4114800"/>
            <a:ext cx="3108960" cy="1463040"/>
          </a:xfrm>
          <a:prstGeom prst="rect">
            <a:avLst/>
          </a:prstGeom>
          <a:noFill/>
          <a:ln/>
        </p:spPr>
        <p:txBody>
          <a:bodyPr wrap="square" lIns="0" tIns="0" rIns="0" bIns="0" rtlCol="0" anchor="ctr"/>
          <a:lstStyle/>
          <a:p>
            <a:pPr indent="0" marL="0">
              <a:lnSpc>
                <a:spcPct val="115000"/>
              </a:lnSpc>
              <a:buNone/>
            </a:pPr>
            <a:r>
              <a:rPr lang="en-US" sz="1150" dirty="0">
                <a:solidFill>
                  <a:srgbClr val="D9E6F2"/>
                </a:solidFill>
                <a:latin typeface="Calibri" pitchFamily="34" charset="0"/>
                <a:ea typeface="Calibri" pitchFamily="34" charset="-122"/>
                <a:cs typeface="Calibri" pitchFamily="34" charset="-120"/>
              </a:rPr>
              <a:t>Public register of licensed Short-Let accommodation in Malta (+ separate Gozo list). Sortable by name, address, license type.</a:t>
            </a:r>
            <a:endParaRPr lang="en-US" sz="1150" dirty="0"/>
          </a:p>
        </p:txBody>
      </p:sp>
      <p:sp>
        <p:nvSpPr>
          <p:cNvPr id="11" name="Text 8">
            <a:hlinkClick r:id="rId2" tooltip=""/>
          </p:cNvPr>
          <p:cNvSpPr txBox="1"/>
          <p:nvPr/>
        </p:nvSpPr>
        <p:spPr>
          <a:xfrm>
            <a:off x="822960" y="5623560"/>
            <a:ext cx="3108960" cy="320040"/>
          </a:xfrm>
          <a:prstGeom prst="rect">
            <a:avLst/>
          </a:prstGeom>
          <a:noFill/>
          <a:ln/>
        </p:spPr>
        <p:txBody>
          <a:bodyPr wrap="square" lIns="0" tIns="0" rIns="0" bIns="0" rtlCol="0" anchor="ctr"/>
          <a:lstStyle/>
          <a:p>
            <a:pPr indent="0" marL="0">
              <a:buNone/>
            </a:pPr>
            <a:r>
              <a:rPr lang="en-US" sz="1100" u="sng" dirty="0">
                <a:solidFill>
                  <a:srgbClr val="9FCBE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mta.com.mt/licences</a:t>
            </a:r>
            <a:endParaRPr lang="en-US" sz="1100" dirty="0"/>
          </a:p>
        </p:txBody>
      </p:sp>
      <p:sp>
        <p:nvSpPr>
          <p:cNvPr id="12" name="Shape 9"/>
          <p:cNvSpPr/>
          <p:nvPr/>
        </p:nvSpPr>
        <p:spPr>
          <a:xfrm>
            <a:off x="4343400" y="1600200"/>
            <a:ext cx="3611880" cy="4480560"/>
          </a:xfrm>
          <a:prstGeom prst="roundRect">
            <a:avLst>
              <a:gd name="adj" fmla="val 3038"/>
            </a:avLst>
          </a:prstGeom>
          <a:solidFill>
            <a:srgbClr val="065A82"/>
          </a:solidFill>
          <a:ln/>
        </p:spPr>
      </p:sp>
      <p:sp>
        <p:nvSpPr>
          <p:cNvPr id="13" name="Text 10"/>
          <p:cNvSpPr txBox="1"/>
          <p:nvPr/>
        </p:nvSpPr>
        <p:spPr>
          <a:xfrm>
            <a:off x="4617720" y="1783080"/>
            <a:ext cx="3017520" cy="320040"/>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TIER 2</a:t>
            </a:r>
            <a:endParaRPr lang="en-US" sz="1100" dirty="0"/>
          </a:p>
        </p:txBody>
      </p:sp>
      <p:sp>
        <p:nvSpPr>
          <p:cNvPr id="14" name="Shape 11"/>
          <p:cNvSpPr/>
          <p:nvPr/>
        </p:nvSpPr>
        <p:spPr>
          <a:xfrm>
            <a:off x="4617720" y="2148840"/>
            <a:ext cx="594360" cy="594360"/>
          </a:xfrm>
          <a:prstGeom prst="ellipse">
            <a:avLst/>
          </a:prstGeom>
          <a:solidFill>
            <a:srgbClr val="FFFFFF"/>
          </a:solidFill>
          <a:ln/>
        </p:spPr>
      </p:sp>
      <p:pic>
        <p:nvPicPr>
          <p:cNvPr id="15" name="Image 1" descr="/home/claude/ppt/icon_envelope.png">    </p:cNvPr>
          <p:cNvPicPr>
            <a:picLocks noChangeAspect="1"/>
          </p:cNvPicPr>
          <p:nvPr/>
        </p:nvPicPr>
        <p:blipFill>
          <a:blip r:embed="rId3"/>
          <a:stretch>
            <a:fillRect/>
          </a:stretch>
        </p:blipFill>
        <p:spPr>
          <a:xfrm>
            <a:off x="4764024" y="2295144"/>
            <a:ext cx="310896" cy="310896"/>
          </a:xfrm>
          <a:prstGeom prst="rect">
            <a:avLst/>
          </a:prstGeom>
        </p:spPr>
      </p:pic>
      <p:sp>
        <p:nvSpPr>
          <p:cNvPr id="16" name="Text 12"/>
          <p:cNvSpPr txBox="1"/>
          <p:nvPr/>
        </p:nvSpPr>
        <p:spPr>
          <a:xfrm>
            <a:off x="4617720" y="2880360"/>
            <a:ext cx="3108960" cy="6858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Direct-From-Owner Classifieds</a:t>
            </a:r>
            <a:endParaRPr lang="en-US" sz="1600" dirty="0"/>
          </a:p>
        </p:txBody>
      </p:sp>
      <p:sp>
        <p:nvSpPr>
          <p:cNvPr id="17" name="Text 13"/>
          <p:cNvSpPr txBox="1"/>
          <p:nvPr/>
        </p:nvSpPr>
        <p:spPr>
          <a:xfrm>
            <a:off x="4617720" y="3566160"/>
            <a:ext cx="3108960" cy="502920"/>
          </a:xfrm>
          <a:prstGeom prst="rect">
            <a:avLst/>
          </a:prstGeom>
          <a:noFill/>
          <a:ln/>
        </p:spPr>
        <p:txBody>
          <a:bodyPr wrap="square" lIns="0" tIns="0" rIns="0" bIns="0" rtlCol="0" anchor="ctr"/>
          <a:lstStyle/>
          <a:p>
            <a:pPr indent="0" marL="0">
              <a:buNone/>
            </a:pPr>
            <a:r>
              <a:rPr lang="en-US" sz="2600" b="1" dirty="0">
                <a:solidFill>
                  <a:srgbClr val="E8A33D"/>
                </a:solidFill>
                <a:latin typeface="Cambria" pitchFamily="34" charset="0"/>
                <a:ea typeface="Cambria" pitchFamily="34" charset="-122"/>
                <a:cs typeface="Cambria" pitchFamily="34" charset="-120"/>
              </a:rPr>
              <a:t>Open contact</a:t>
            </a:r>
            <a:endParaRPr lang="en-US" sz="2600" dirty="0"/>
          </a:p>
        </p:txBody>
      </p:sp>
      <p:sp>
        <p:nvSpPr>
          <p:cNvPr id="18" name="Text 14"/>
          <p:cNvSpPr txBox="1"/>
          <p:nvPr/>
        </p:nvSpPr>
        <p:spPr>
          <a:xfrm>
            <a:off x="4617720" y="4114800"/>
            <a:ext cx="3108960" cy="1463040"/>
          </a:xfrm>
          <a:prstGeom prst="rect">
            <a:avLst/>
          </a:prstGeom>
          <a:noFill/>
          <a:ln/>
        </p:spPr>
        <p:txBody>
          <a:bodyPr wrap="square" lIns="0" tIns="0" rIns="0" bIns="0" rtlCol="0" anchor="ctr"/>
          <a:lstStyle/>
          <a:p>
            <a:pPr indent="0" marL="0">
              <a:lnSpc>
                <a:spcPct val="115000"/>
              </a:lnSpc>
              <a:buNone/>
            </a:pPr>
            <a:r>
              <a:rPr lang="en-US" sz="1150" dirty="0">
                <a:solidFill>
                  <a:srgbClr val="D9E6F2"/>
                </a:solidFill>
                <a:latin typeface="Calibri" pitchFamily="34" charset="0"/>
                <a:ea typeface="Calibri" pitchFamily="34" charset="-122"/>
                <a:cs typeface="Calibri" pitchFamily="34" charset="-120"/>
              </a:rPr>
              <a:t>directfromowner.eu and similar sites post raw owner email + mobile number directly in listing text — no login wall.</a:t>
            </a:r>
            <a:endParaRPr lang="en-US" sz="1150" dirty="0"/>
          </a:p>
        </p:txBody>
      </p:sp>
      <p:sp>
        <p:nvSpPr>
          <p:cNvPr id="19" name="Text 15">
            <a:hlinkClick r:id="rId4" tooltip=""/>
          </p:cNvPr>
          <p:cNvSpPr txBox="1"/>
          <p:nvPr/>
        </p:nvSpPr>
        <p:spPr>
          <a:xfrm>
            <a:off x="4617720" y="5623560"/>
            <a:ext cx="3108960" cy="320040"/>
          </a:xfrm>
          <a:prstGeom prst="rect">
            <a:avLst/>
          </a:prstGeom>
          <a:noFill/>
          <a:ln/>
        </p:spPr>
        <p:txBody>
          <a:bodyPr wrap="square" lIns="0" tIns="0" rIns="0" bIns="0" rtlCol="0" anchor="ctr"/>
          <a:lstStyle/>
          <a:p>
            <a:pPr indent="0" marL="0">
              <a:buNone/>
            </a:pPr>
            <a:r>
              <a:rPr lang="en-US" sz="1100" u="sng" dirty="0">
                <a:solidFill>
                  <a:srgbClr val="9FCBE8"/>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directfromowner.eu</a:t>
            </a:r>
            <a:endParaRPr lang="en-US" sz="1100" dirty="0"/>
          </a:p>
        </p:txBody>
      </p:sp>
      <p:sp>
        <p:nvSpPr>
          <p:cNvPr id="20" name="Shape 16"/>
          <p:cNvSpPr/>
          <p:nvPr/>
        </p:nvSpPr>
        <p:spPr>
          <a:xfrm>
            <a:off x="8138160" y="1600200"/>
            <a:ext cx="3611880" cy="4480560"/>
          </a:xfrm>
          <a:prstGeom prst="roundRect">
            <a:avLst>
              <a:gd name="adj" fmla="val 3038"/>
            </a:avLst>
          </a:prstGeom>
          <a:solidFill>
            <a:srgbClr val="065A82"/>
          </a:solidFill>
          <a:ln/>
        </p:spPr>
      </p:sp>
      <p:sp>
        <p:nvSpPr>
          <p:cNvPr id="21" name="Text 17"/>
          <p:cNvSpPr txBox="1"/>
          <p:nvPr/>
        </p:nvSpPr>
        <p:spPr>
          <a:xfrm>
            <a:off x="8412480" y="1783080"/>
            <a:ext cx="3017520" cy="320040"/>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TIER 3</a:t>
            </a:r>
            <a:endParaRPr lang="en-US" sz="1100" dirty="0"/>
          </a:p>
        </p:txBody>
      </p:sp>
      <p:sp>
        <p:nvSpPr>
          <p:cNvPr id="22" name="Shape 18"/>
          <p:cNvSpPr/>
          <p:nvPr/>
        </p:nvSpPr>
        <p:spPr>
          <a:xfrm>
            <a:off x="8412480" y="2148840"/>
            <a:ext cx="594360" cy="594360"/>
          </a:xfrm>
          <a:prstGeom prst="ellipse">
            <a:avLst/>
          </a:prstGeom>
          <a:solidFill>
            <a:srgbClr val="FFFFFF"/>
          </a:solidFill>
          <a:ln/>
        </p:spPr>
      </p:sp>
      <p:pic>
        <p:nvPicPr>
          <p:cNvPr id="23" name="Image 2" descr="/home/claude/ppt/icon_list.png">    </p:cNvPr>
          <p:cNvPicPr>
            <a:picLocks noChangeAspect="1"/>
          </p:cNvPicPr>
          <p:nvPr/>
        </p:nvPicPr>
        <p:blipFill>
          <a:blip r:embed="rId5"/>
          <a:stretch>
            <a:fillRect/>
          </a:stretch>
        </p:blipFill>
        <p:spPr>
          <a:xfrm>
            <a:off x="8558784" y="2295144"/>
            <a:ext cx="310896" cy="310896"/>
          </a:xfrm>
          <a:prstGeom prst="rect">
            <a:avLst/>
          </a:prstGeom>
        </p:spPr>
      </p:pic>
      <p:sp>
        <p:nvSpPr>
          <p:cNvPr id="24" name="Text 19"/>
          <p:cNvSpPr txBox="1"/>
          <p:nvPr/>
        </p:nvSpPr>
        <p:spPr>
          <a:xfrm>
            <a:off x="8412480" y="2880360"/>
            <a:ext cx="3108960" cy="6858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Maltapark Short/Long Lets</a:t>
            </a:r>
            <a:endParaRPr lang="en-US" sz="1600" dirty="0"/>
          </a:p>
        </p:txBody>
      </p:sp>
      <p:sp>
        <p:nvSpPr>
          <p:cNvPr id="25" name="Text 20"/>
          <p:cNvSpPr txBox="1"/>
          <p:nvPr/>
        </p:nvSpPr>
        <p:spPr>
          <a:xfrm>
            <a:off x="8412480" y="3566160"/>
            <a:ext cx="3108960" cy="502920"/>
          </a:xfrm>
          <a:prstGeom prst="rect">
            <a:avLst/>
          </a:prstGeom>
          <a:noFill/>
          <a:ln/>
        </p:spPr>
        <p:txBody>
          <a:bodyPr wrap="square" lIns="0" tIns="0" rIns="0" bIns="0" rtlCol="0" anchor="ctr"/>
          <a:lstStyle/>
          <a:p>
            <a:pPr indent="0" marL="0">
              <a:buNone/>
            </a:pPr>
            <a:r>
              <a:rPr lang="en-US" sz="2600" b="1" dirty="0">
                <a:solidFill>
                  <a:srgbClr val="E8A33D"/>
                </a:solidFill>
                <a:latin typeface="Cambria" pitchFamily="34" charset="0"/>
                <a:ea typeface="Cambria" pitchFamily="34" charset="-122"/>
                <a:cs typeface="Cambria" pitchFamily="34" charset="-120"/>
              </a:rPr>
              <a:t>3,600+ / 293</a:t>
            </a:r>
            <a:endParaRPr lang="en-US" sz="2600" dirty="0"/>
          </a:p>
        </p:txBody>
      </p:sp>
      <p:sp>
        <p:nvSpPr>
          <p:cNvPr id="26" name="Text 21"/>
          <p:cNvSpPr txBox="1"/>
          <p:nvPr/>
        </p:nvSpPr>
        <p:spPr>
          <a:xfrm>
            <a:off x="8412480" y="4114800"/>
            <a:ext cx="3108960" cy="1463040"/>
          </a:xfrm>
          <a:prstGeom prst="rect">
            <a:avLst/>
          </a:prstGeom>
          <a:noFill/>
          <a:ln/>
        </p:spPr>
        <p:txBody>
          <a:bodyPr wrap="square" lIns="0" tIns="0" rIns="0" bIns="0" rtlCol="0" anchor="ctr"/>
          <a:lstStyle/>
          <a:p>
            <a:pPr indent="0" marL="0">
              <a:lnSpc>
                <a:spcPct val="115000"/>
              </a:lnSpc>
              <a:buNone/>
            </a:pPr>
            <a:r>
              <a:rPr lang="en-US" sz="1150" dirty="0">
                <a:solidFill>
                  <a:srgbClr val="D9E6F2"/>
                </a:solidFill>
                <a:latin typeface="Calibri" pitchFamily="34" charset="0"/>
                <a:ea typeface="Calibri" pitchFamily="34" charset="-122"/>
                <a:cs typeface="Calibri" pitchFamily="34" charset="-120"/>
              </a:rPr>
              <a:t>Listings tagged Owner vs Broker. Owner phone numbers are gated behind a free account login.</a:t>
            </a:r>
            <a:endParaRPr lang="en-US" sz="1150" dirty="0"/>
          </a:p>
        </p:txBody>
      </p:sp>
      <p:sp>
        <p:nvSpPr>
          <p:cNvPr id="27" name="Text 22">
            <a:hlinkClick r:id="rId6" tooltip=""/>
          </p:cNvPr>
          <p:cNvSpPr txBox="1"/>
          <p:nvPr/>
        </p:nvSpPr>
        <p:spPr>
          <a:xfrm>
            <a:off x="8412480" y="5623560"/>
            <a:ext cx="3108960" cy="320040"/>
          </a:xfrm>
          <a:prstGeom prst="rect">
            <a:avLst/>
          </a:prstGeom>
          <a:noFill/>
          <a:ln/>
        </p:spPr>
        <p:txBody>
          <a:bodyPr wrap="square" lIns="0" tIns="0" rIns="0" bIns="0" rtlCol="0" anchor="ctr"/>
          <a:lstStyle/>
          <a:p>
            <a:pPr indent="0" marL="0">
              <a:buNone/>
            </a:pPr>
            <a:r>
              <a:rPr lang="en-US" sz="1100" u="sng" dirty="0">
                <a:solidFill>
                  <a:srgbClr val="9FCBE8"/>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maltapark.com</a:t>
            </a:r>
            <a:endParaRPr lang="en-US" sz="1100" dirty="0"/>
          </a:p>
        </p:txBody>
      </p:sp>
      <p:sp>
        <p:nvSpPr>
          <p:cNvPr id="28" name="Text 23"/>
          <p:cNvSpPr/>
          <p:nvPr/>
        </p:nvSpPr>
        <p:spPr>
          <a:xfrm>
            <a:off x="457200" y="6519672"/>
            <a:ext cx="7315200" cy="274320"/>
          </a:xfrm>
          <a:prstGeom prst="rect">
            <a:avLst/>
          </a:prstGeom>
          <a:noFill/>
          <a:ln/>
        </p:spPr>
        <p:txBody>
          <a:bodyPr wrap="square" rtlCol="0" anchor="ctr"/>
          <a:lstStyle/>
          <a:p>
            <a:pPr indent="0" marL="0">
              <a:buNone/>
            </a:pPr>
            <a:r>
              <a:rPr lang="en-US" sz="900" dirty="0">
                <a:solidFill>
                  <a:srgbClr val="5C6B73"/>
                </a:solidFill>
                <a:latin typeface="Calibri" pitchFamily="34" charset="0"/>
                <a:ea typeface="Calibri" pitchFamily="34" charset="-122"/>
                <a:cs typeface="Calibri" pitchFamily="34" charset="-120"/>
              </a:rPr>
              <a:t>Slide 4</a:t>
            </a:r>
            <a:endParaRPr lang="en-US" sz="900" dirty="0"/>
          </a:p>
        </p:txBody>
      </p:sp>
      <p:sp>
        <p:nvSpPr>
          <p:cNvPr id="29" name="Text 24"/>
          <p:cNvSpPr/>
          <p:nvPr/>
        </p:nvSpPr>
        <p:spPr>
          <a:xfrm>
            <a:off x="7772400" y="6519672"/>
            <a:ext cx="3931920" cy="274320"/>
          </a:xfrm>
          <a:prstGeom prst="rect">
            <a:avLst/>
          </a:prstGeom>
          <a:noFill/>
          <a:ln/>
        </p:spPr>
        <p:txBody>
          <a:bodyPr wrap="square" rtlCol="0" anchor="ctr"/>
          <a:lstStyle/>
          <a:p>
            <a:pPr algn="r" indent="0" marL="0">
              <a:buNone/>
            </a:pPr>
            <a:r>
              <a:rPr lang="en-US" sz="900" dirty="0">
                <a:solidFill>
                  <a:srgbClr val="5C6B73"/>
                </a:solidFill>
                <a:latin typeface="Calibri" pitchFamily="34" charset="0"/>
                <a:ea typeface="Calibri" pitchFamily="34" charset="-122"/>
                <a:cs typeface="Calibri" pitchFamily="34" charset="-120"/>
              </a:rPr>
              <a:t>Malta Property Owner Data — Research Summary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65A82"/>
          </a:solidFill>
          <a:ln/>
        </p:spPr>
      </p:sp>
      <p:sp>
        <p:nvSpPr>
          <p:cNvPr id="3" name="Shape 1"/>
          <p:cNvSpPr/>
          <p:nvPr/>
        </p:nvSpPr>
        <p:spPr>
          <a:xfrm>
            <a:off x="2743200" y="5303520"/>
            <a:ext cx="3200400" cy="3200400"/>
          </a:xfrm>
          <a:prstGeom prst="ellipse">
            <a:avLst/>
          </a:prstGeom>
          <a:solidFill>
            <a:srgbClr val="1C7293">
              <a:alpha val="45000"/>
            </a:srgbClr>
          </a:solidFill>
          <a:ln/>
        </p:spPr>
      </p:sp>
      <p:pic>
        <p:nvPicPr>
          <p:cNvPr id="4" name="Image 0" descr="/home/claude/ppt/white_icon_globe.png">    </p:cNvPr>
          <p:cNvPicPr>
            <a:picLocks noChangeAspect="1"/>
          </p:cNvPicPr>
          <p:nvPr/>
        </p:nvPicPr>
        <p:blipFill>
          <a:blip r:embed="rId1"/>
          <a:stretch>
            <a:fillRect/>
          </a:stretch>
        </p:blipFill>
        <p:spPr>
          <a:xfrm>
            <a:off x="640080" y="685800"/>
            <a:ext cx="594360" cy="594360"/>
          </a:xfrm>
          <a:prstGeom prst="rect">
            <a:avLst/>
          </a:prstGeom>
        </p:spPr>
      </p:pic>
      <p:sp>
        <p:nvSpPr>
          <p:cNvPr id="5" name="Text 2"/>
          <p:cNvSpPr txBox="1"/>
          <p:nvPr/>
        </p:nvSpPr>
        <p:spPr>
          <a:xfrm>
            <a:off x="640080" y="1463040"/>
            <a:ext cx="2743200" cy="32004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TIER 1</a:t>
            </a:r>
            <a:endParaRPr lang="en-US" sz="1200" dirty="0"/>
          </a:p>
        </p:txBody>
      </p:sp>
      <p:sp>
        <p:nvSpPr>
          <p:cNvPr id="6" name="Text 3"/>
          <p:cNvSpPr txBox="1"/>
          <p:nvPr/>
        </p:nvSpPr>
        <p:spPr>
          <a:xfrm>
            <a:off x="640080" y="1828800"/>
            <a:ext cx="3291840" cy="12801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Malta Tourism</a:t>
            </a:r>
            <a:endParaRPr lang="en-US" sz="2600" dirty="0"/>
          </a:p>
          <a:p>
            <a:pPr indent="0" marL="0">
              <a:buNone/>
            </a:pPr>
            <a:r>
              <a:rPr lang="en-US" sz="2600" b="1" dirty="0">
                <a:solidFill>
                  <a:srgbClr val="FFFFFF"/>
                </a:solidFill>
                <a:latin typeface="Cambria" pitchFamily="34" charset="0"/>
                <a:ea typeface="Cambria" pitchFamily="34" charset="-122"/>
                <a:cs typeface="Cambria" pitchFamily="34" charset="-120"/>
              </a:rPr>
              <a:t>Authority Register</a:t>
            </a:r>
            <a:endParaRPr lang="en-US" sz="2600" dirty="0"/>
          </a:p>
        </p:txBody>
      </p:sp>
      <p:sp>
        <p:nvSpPr>
          <p:cNvPr id="7" name="Text 4"/>
          <p:cNvSpPr txBox="1"/>
          <p:nvPr/>
        </p:nvSpPr>
        <p:spPr>
          <a:xfrm>
            <a:off x="640080" y="3291840"/>
            <a:ext cx="3291840" cy="822960"/>
          </a:xfrm>
          <a:prstGeom prst="rect">
            <a:avLst/>
          </a:prstGeom>
          <a:noFill/>
          <a:ln/>
        </p:spPr>
        <p:txBody>
          <a:bodyPr wrap="square" lIns="0" tIns="0" rIns="0" bIns="0" rtlCol="0" anchor="ctr"/>
          <a:lstStyle/>
          <a:p>
            <a:pPr indent="0" marL="0">
              <a:buNone/>
            </a:pPr>
            <a:r>
              <a:rPr lang="en-US" sz="4400" b="1" dirty="0">
                <a:solidFill>
                  <a:srgbClr val="E8A33D"/>
                </a:solidFill>
                <a:latin typeface="Cambria" pitchFamily="34" charset="0"/>
                <a:ea typeface="Cambria" pitchFamily="34" charset="-122"/>
                <a:cs typeface="Cambria" pitchFamily="34" charset="-120"/>
              </a:rPr>
              <a:t>7,055+</a:t>
            </a:r>
            <a:endParaRPr lang="en-US" sz="4400" dirty="0"/>
          </a:p>
        </p:txBody>
      </p:sp>
      <p:sp>
        <p:nvSpPr>
          <p:cNvPr id="8" name="Text 5"/>
          <p:cNvSpPr txBox="1"/>
          <p:nvPr/>
        </p:nvSpPr>
        <p:spPr>
          <a:xfrm>
            <a:off x="640080" y="4069080"/>
            <a:ext cx="3200400" cy="822960"/>
          </a:xfrm>
          <a:prstGeom prst="rect">
            <a:avLst/>
          </a:prstGeom>
          <a:noFill/>
          <a:ln/>
        </p:spPr>
        <p:txBody>
          <a:bodyPr wrap="square" lIns="0" tIns="0" rIns="0" bIns="0" rtlCol="0" anchor="ctr"/>
          <a:lstStyle/>
          <a:p>
            <a:pPr indent="0" marL="0">
              <a:buNone/>
            </a:pPr>
            <a:r>
              <a:rPr lang="en-US" sz="1250" dirty="0">
                <a:solidFill>
                  <a:srgbClr val="D9E6F2"/>
                </a:solidFill>
                <a:latin typeface="Calibri" pitchFamily="34" charset="0"/>
                <a:ea typeface="Calibri" pitchFamily="34" charset="-122"/>
                <a:cs typeface="Calibri" pitchFamily="34" charset="-120"/>
              </a:rPr>
              <a:t>licensed Short-Let listings for Malta, plus a separate Gozo register</a:t>
            </a:r>
            <a:endParaRPr lang="en-US" sz="1250" dirty="0"/>
          </a:p>
        </p:txBody>
      </p:sp>
      <p:sp>
        <p:nvSpPr>
          <p:cNvPr id="9" name="Text 6">
            <a:hlinkClick r:id="rId2" tooltip=""/>
          </p:cNvPr>
          <p:cNvSpPr txBox="1"/>
          <p:nvPr/>
        </p:nvSpPr>
        <p:spPr>
          <a:xfrm>
            <a:off x="640080" y="6035040"/>
            <a:ext cx="3200400" cy="365760"/>
          </a:xfrm>
          <a:prstGeom prst="rect">
            <a:avLst/>
          </a:prstGeom>
          <a:noFill/>
          <a:ln/>
        </p:spPr>
        <p:txBody>
          <a:bodyPr wrap="square" lIns="0" tIns="0" rIns="0" bIns="0" rtlCol="0" anchor="ctr"/>
          <a:lstStyle/>
          <a:p>
            <a:pPr indent="0" marL="0">
              <a:buNone/>
            </a:pPr>
            <a:r>
              <a:rPr lang="en-US" sz="12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mta.com.mt/licences</a:t>
            </a:r>
            <a:endParaRPr lang="en-US" sz="1200" dirty="0"/>
          </a:p>
        </p:txBody>
      </p:sp>
      <p:sp>
        <p:nvSpPr>
          <p:cNvPr id="10" name="Text 7"/>
          <p:cNvSpPr txBox="1"/>
          <p:nvPr/>
        </p:nvSpPr>
        <p:spPr>
          <a:xfrm>
            <a:off x="4617720" y="594360"/>
            <a:ext cx="6949440" cy="457200"/>
          </a:xfrm>
          <a:prstGeom prst="rect">
            <a:avLst/>
          </a:prstGeom>
          <a:noFill/>
          <a:ln/>
        </p:spPr>
        <p:txBody>
          <a:bodyPr wrap="square" lIns="0" tIns="0" rIns="0" bIns="0" rtlCol="0" anchor="ctr"/>
          <a:lstStyle/>
          <a:p>
            <a:pPr indent="0" marL="0">
              <a:buNone/>
            </a:pPr>
            <a:r>
              <a:rPr lang="en-US" sz="2000" b="1" dirty="0">
                <a:solidFill>
                  <a:srgbClr val="21295C"/>
                </a:solidFill>
                <a:latin typeface="Cambria" pitchFamily="34" charset="0"/>
                <a:ea typeface="Cambria" pitchFamily="34" charset="-122"/>
                <a:cs typeface="Cambria" pitchFamily="34" charset="-120"/>
              </a:rPr>
              <a:t>What it is</a:t>
            </a:r>
            <a:endParaRPr lang="en-US" sz="2000" dirty="0"/>
          </a:p>
        </p:txBody>
      </p:sp>
      <p:sp>
        <p:nvSpPr>
          <p:cNvPr id="11" name="Text 8"/>
          <p:cNvSpPr txBox="1"/>
          <p:nvPr/>
        </p:nvSpPr>
        <p:spPr>
          <a:xfrm>
            <a:off x="4617720" y="1051560"/>
            <a:ext cx="6949440" cy="914400"/>
          </a:xfrm>
          <a:prstGeom prst="rect">
            <a:avLst/>
          </a:prstGeom>
          <a:noFill/>
          <a:ln/>
        </p:spPr>
        <p:txBody>
          <a:bodyPr wrap="square" lIns="0" tIns="0" rIns="0" bIns="0" rtlCol="0" anchor="ctr"/>
          <a:lstStyle/>
          <a:p>
            <a:pPr indent="0" marL="0">
              <a:lnSpc>
                <a:spcPct val="120000"/>
              </a:lnSpc>
              <a:buNone/>
            </a:pPr>
            <a:r>
              <a:rPr lang="en-US" sz="1300" dirty="0">
                <a:solidFill>
                  <a:srgbClr val="1B1F26"/>
                </a:solidFill>
                <a:latin typeface="Calibri" pitchFamily="34" charset="0"/>
                <a:ea typeface="Calibri" pitchFamily="34" charset="-122"/>
                <a:cs typeface="Calibri" pitchFamily="34" charset="-120"/>
              </a:rPr>
              <a:t>The public register of all establishments currently licensed by the Malta Tourism Authority. Filterable by type — Short-Let Rented Accommodation is its own category, separate from hotels, guest houses and hostels.</a:t>
            </a:r>
            <a:endParaRPr lang="en-US" sz="1300" dirty="0"/>
          </a:p>
        </p:txBody>
      </p:sp>
      <p:sp>
        <p:nvSpPr>
          <p:cNvPr id="12" name="Shape 9"/>
          <p:cNvSpPr/>
          <p:nvPr/>
        </p:nvSpPr>
        <p:spPr>
          <a:xfrm>
            <a:off x="4617720" y="2148840"/>
            <a:ext cx="292608" cy="292608"/>
          </a:xfrm>
          <a:prstGeom prst="ellipse">
            <a:avLst/>
          </a:prstGeom>
          <a:solidFill>
            <a:srgbClr val="1C7293"/>
          </a:solidFill>
          <a:ln/>
        </p:spPr>
      </p:sp>
      <p:pic>
        <p:nvPicPr>
          <p:cNvPr id="13" name="Image 1" descr="/home/claude/ppt/white_icon_check.png">    </p:cNvPr>
          <p:cNvPicPr>
            <a:picLocks noChangeAspect="1"/>
          </p:cNvPicPr>
          <p:nvPr/>
        </p:nvPicPr>
        <p:blipFill>
          <a:blip r:embed="rId3"/>
          <a:stretch>
            <a:fillRect/>
          </a:stretch>
        </p:blipFill>
        <p:spPr>
          <a:xfrm>
            <a:off x="4690872" y="2221992"/>
            <a:ext cx="146304" cy="146304"/>
          </a:xfrm>
          <a:prstGeom prst="rect">
            <a:avLst/>
          </a:prstGeom>
        </p:spPr>
      </p:pic>
      <p:sp>
        <p:nvSpPr>
          <p:cNvPr id="14" name="Text 10"/>
          <p:cNvSpPr txBox="1"/>
          <p:nvPr/>
        </p:nvSpPr>
        <p:spPr>
          <a:xfrm>
            <a:off x="5074920" y="2093976"/>
            <a:ext cx="6492240" cy="457200"/>
          </a:xfrm>
          <a:prstGeom prst="rect">
            <a:avLst/>
          </a:prstGeom>
          <a:noFill/>
          <a:ln/>
        </p:spPr>
        <p:txBody>
          <a:bodyPr wrap="square" lIns="0" tIns="0" rIns="0" bIns="0" rtlCol="0" anchor="ctr"/>
          <a:lstStyle/>
          <a:p>
            <a:pPr indent="0" marL="0">
              <a:buNone/>
            </a:pPr>
            <a:r>
              <a:rPr lang="en-US" sz="1250" dirty="0">
                <a:solidFill>
                  <a:srgbClr val="1B1F26"/>
                </a:solidFill>
                <a:latin typeface="Calibri" pitchFamily="34" charset="0"/>
                <a:ea typeface="Calibri" pitchFamily="34" charset="-122"/>
                <a:cs typeface="Calibri" pitchFamily="34" charset="-120"/>
              </a:rPr>
              <a:t>Free &amp; fully public — sortable, filterable, paginated (50 records/page)</a:t>
            </a:r>
            <a:endParaRPr lang="en-US" sz="1250" dirty="0"/>
          </a:p>
        </p:txBody>
      </p:sp>
      <p:sp>
        <p:nvSpPr>
          <p:cNvPr id="15" name="Shape 11"/>
          <p:cNvSpPr/>
          <p:nvPr/>
        </p:nvSpPr>
        <p:spPr>
          <a:xfrm>
            <a:off x="4617720" y="2651760"/>
            <a:ext cx="292608" cy="292608"/>
          </a:xfrm>
          <a:prstGeom prst="ellipse">
            <a:avLst/>
          </a:prstGeom>
          <a:solidFill>
            <a:srgbClr val="1C7293"/>
          </a:solidFill>
          <a:ln/>
        </p:spPr>
      </p:sp>
      <p:pic>
        <p:nvPicPr>
          <p:cNvPr id="16" name="Image 2" descr="/home/claude/ppt/white_icon_check.png">    </p:cNvPr>
          <p:cNvPicPr>
            <a:picLocks noChangeAspect="1"/>
          </p:cNvPicPr>
          <p:nvPr/>
        </p:nvPicPr>
        <p:blipFill>
          <a:blip r:embed="rId4"/>
          <a:stretch>
            <a:fillRect/>
          </a:stretch>
        </p:blipFill>
        <p:spPr>
          <a:xfrm>
            <a:off x="4690872" y="2724912"/>
            <a:ext cx="146304" cy="146304"/>
          </a:xfrm>
          <a:prstGeom prst="rect">
            <a:avLst/>
          </a:prstGeom>
        </p:spPr>
      </p:pic>
      <p:sp>
        <p:nvSpPr>
          <p:cNvPr id="17" name="Text 12"/>
          <p:cNvSpPr txBox="1"/>
          <p:nvPr/>
        </p:nvSpPr>
        <p:spPr>
          <a:xfrm>
            <a:off x="5074920" y="2596896"/>
            <a:ext cx="6492240" cy="457200"/>
          </a:xfrm>
          <a:prstGeom prst="rect">
            <a:avLst/>
          </a:prstGeom>
          <a:noFill/>
          <a:ln/>
        </p:spPr>
        <p:txBody>
          <a:bodyPr wrap="square" lIns="0" tIns="0" rIns="0" bIns="0" rtlCol="0" anchor="ctr"/>
          <a:lstStyle/>
          <a:p>
            <a:pPr indent="0" marL="0">
              <a:buNone/>
            </a:pPr>
            <a:r>
              <a:rPr lang="en-US" sz="1250" dirty="0">
                <a:solidFill>
                  <a:srgbClr val="1B1F26"/>
                </a:solidFill>
                <a:latin typeface="Calibri" pitchFamily="34" charset="0"/>
                <a:ea typeface="Calibri" pitchFamily="34" charset="-122"/>
                <a:cs typeface="Calibri" pitchFamily="34" charset="-120"/>
              </a:rPr>
              <a:t>Every record is already your target customer — a licensed short-let operator</a:t>
            </a:r>
            <a:endParaRPr lang="en-US" sz="1250" dirty="0"/>
          </a:p>
        </p:txBody>
      </p:sp>
      <p:sp>
        <p:nvSpPr>
          <p:cNvPr id="18" name="Shape 13"/>
          <p:cNvSpPr/>
          <p:nvPr/>
        </p:nvSpPr>
        <p:spPr>
          <a:xfrm>
            <a:off x="4617720" y="3154680"/>
            <a:ext cx="292608" cy="292608"/>
          </a:xfrm>
          <a:prstGeom prst="ellipse">
            <a:avLst/>
          </a:prstGeom>
          <a:solidFill>
            <a:srgbClr val="1C7293"/>
          </a:solidFill>
          <a:ln/>
        </p:spPr>
      </p:sp>
      <p:pic>
        <p:nvPicPr>
          <p:cNvPr id="19" name="Image 3" descr="/home/claude/ppt/white_icon_check.png">    </p:cNvPr>
          <p:cNvPicPr>
            <a:picLocks noChangeAspect="1"/>
          </p:cNvPicPr>
          <p:nvPr/>
        </p:nvPicPr>
        <p:blipFill>
          <a:blip r:embed="rId5"/>
          <a:stretch>
            <a:fillRect/>
          </a:stretch>
        </p:blipFill>
        <p:spPr>
          <a:xfrm>
            <a:off x="4690872" y="3227832"/>
            <a:ext cx="146304" cy="146304"/>
          </a:xfrm>
          <a:prstGeom prst="rect">
            <a:avLst/>
          </a:prstGeom>
        </p:spPr>
      </p:pic>
      <p:sp>
        <p:nvSpPr>
          <p:cNvPr id="20" name="Text 14"/>
          <p:cNvSpPr txBox="1"/>
          <p:nvPr/>
        </p:nvSpPr>
        <p:spPr>
          <a:xfrm>
            <a:off x="5074920" y="3099816"/>
            <a:ext cx="6492240" cy="457200"/>
          </a:xfrm>
          <a:prstGeom prst="rect">
            <a:avLst/>
          </a:prstGeom>
          <a:noFill/>
          <a:ln/>
        </p:spPr>
        <p:txBody>
          <a:bodyPr wrap="square" lIns="0" tIns="0" rIns="0" bIns="0" rtlCol="0" anchor="ctr"/>
          <a:lstStyle/>
          <a:p>
            <a:pPr indent="0" marL="0">
              <a:buNone/>
            </a:pPr>
            <a:r>
              <a:rPr lang="en-US" sz="1250" dirty="0">
                <a:solidFill>
                  <a:srgbClr val="1B1F26"/>
                </a:solidFill>
                <a:latin typeface="Calibri" pitchFamily="34" charset="0"/>
                <a:ea typeface="Calibri" pitchFamily="34" charset="-122"/>
                <a:cs typeface="Calibri" pitchFamily="34" charset="-120"/>
              </a:rPr>
              <a:t>Includes name, address &amp; license number for each establishment</a:t>
            </a:r>
            <a:endParaRPr lang="en-US" sz="1250" dirty="0"/>
          </a:p>
        </p:txBody>
      </p:sp>
      <p:sp>
        <p:nvSpPr>
          <p:cNvPr id="21" name="Shape 15"/>
          <p:cNvSpPr/>
          <p:nvPr/>
        </p:nvSpPr>
        <p:spPr>
          <a:xfrm>
            <a:off x="4617720" y="3657600"/>
            <a:ext cx="292608" cy="292608"/>
          </a:xfrm>
          <a:prstGeom prst="ellipse">
            <a:avLst/>
          </a:prstGeom>
          <a:solidFill>
            <a:srgbClr val="B85042"/>
          </a:solidFill>
          <a:ln/>
        </p:spPr>
      </p:sp>
      <p:pic>
        <p:nvPicPr>
          <p:cNvPr id="22" name="Image 4" descr="/home/claude/ppt/white_icon_warning.png">    </p:cNvPr>
          <p:cNvPicPr>
            <a:picLocks noChangeAspect="1"/>
          </p:cNvPicPr>
          <p:nvPr/>
        </p:nvPicPr>
        <p:blipFill>
          <a:blip r:embed="rId6"/>
          <a:stretch>
            <a:fillRect/>
          </a:stretch>
        </p:blipFill>
        <p:spPr>
          <a:xfrm>
            <a:off x="4690872" y="3730752"/>
            <a:ext cx="146304" cy="146304"/>
          </a:xfrm>
          <a:prstGeom prst="rect">
            <a:avLst/>
          </a:prstGeom>
        </p:spPr>
      </p:pic>
      <p:sp>
        <p:nvSpPr>
          <p:cNvPr id="23" name="Text 16"/>
          <p:cNvSpPr txBox="1"/>
          <p:nvPr/>
        </p:nvSpPr>
        <p:spPr>
          <a:xfrm>
            <a:off x="5074920" y="3602736"/>
            <a:ext cx="6492240" cy="457200"/>
          </a:xfrm>
          <a:prstGeom prst="rect">
            <a:avLst/>
          </a:prstGeom>
          <a:noFill/>
          <a:ln/>
        </p:spPr>
        <p:txBody>
          <a:bodyPr wrap="square" lIns="0" tIns="0" rIns="0" bIns="0" rtlCol="0" anchor="ctr"/>
          <a:lstStyle/>
          <a:p>
            <a:pPr indent="0" marL="0">
              <a:buNone/>
            </a:pPr>
            <a:r>
              <a:rPr lang="en-US" sz="1250" dirty="0">
                <a:solidFill>
                  <a:srgbClr val="1B1F26"/>
                </a:solidFill>
                <a:latin typeface="Calibri" pitchFamily="34" charset="0"/>
                <a:ea typeface="Calibri" pitchFamily="34" charset="-122"/>
                <a:cs typeface="Calibri" pitchFamily="34" charset="-120"/>
              </a:rPr>
              <a:t>Does not directly show phone number / e-mail — needs enrichment</a:t>
            </a:r>
            <a:endParaRPr lang="en-US" sz="1250" dirty="0"/>
          </a:p>
        </p:txBody>
      </p:sp>
      <p:sp>
        <p:nvSpPr>
          <p:cNvPr id="24" name="Shape 17"/>
          <p:cNvSpPr/>
          <p:nvPr/>
        </p:nvSpPr>
        <p:spPr>
          <a:xfrm>
            <a:off x="4617720" y="4160520"/>
            <a:ext cx="292608" cy="292608"/>
          </a:xfrm>
          <a:prstGeom prst="ellipse">
            <a:avLst/>
          </a:prstGeom>
          <a:solidFill>
            <a:srgbClr val="B85042"/>
          </a:solidFill>
          <a:ln/>
        </p:spPr>
      </p:sp>
      <p:pic>
        <p:nvPicPr>
          <p:cNvPr id="25" name="Image 5" descr="/home/claude/ppt/white_icon_warning.png">    </p:cNvPr>
          <p:cNvPicPr>
            <a:picLocks noChangeAspect="1"/>
          </p:cNvPicPr>
          <p:nvPr/>
        </p:nvPicPr>
        <p:blipFill>
          <a:blip r:embed="rId7"/>
          <a:stretch>
            <a:fillRect/>
          </a:stretch>
        </p:blipFill>
        <p:spPr>
          <a:xfrm>
            <a:off x="4690872" y="4233672"/>
            <a:ext cx="146304" cy="146304"/>
          </a:xfrm>
          <a:prstGeom prst="rect">
            <a:avLst/>
          </a:prstGeom>
        </p:spPr>
      </p:pic>
      <p:sp>
        <p:nvSpPr>
          <p:cNvPr id="26" name="Text 18"/>
          <p:cNvSpPr txBox="1"/>
          <p:nvPr/>
        </p:nvSpPr>
        <p:spPr>
          <a:xfrm>
            <a:off x="5074920" y="4105656"/>
            <a:ext cx="6492240" cy="457200"/>
          </a:xfrm>
          <a:prstGeom prst="rect">
            <a:avLst/>
          </a:prstGeom>
          <a:noFill/>
          <a:ln/>
        </p:spPr>
        <p:txBody>
          <a:bodyPr wrap="square" lIns="0" tIns="0" rIns="0" bIns="0" rtlCol="0" anchor="ctr"/>
          <a:lstStyle/>
          <a:p>
            <a:pPr indent="0" marL="0">
              <a:buNone/>
            </a:pPr>
            <a:r>
              <a:rPr lang="en-US" sz="1250" dirty="0">
                <a:solidFill>
                  <a:srgbClr val="1B1F26"/>
                </a:solidFill>
                <a:latin typeface="Calibri" pitchFamily="34" charset="0"/>
                <a:ea typeface="Calibri" pitchFamily="34" charset="-122"/>
                <a:cs typeface="Calibri" pitchFamily="34" charset="-120"/>
              </a:rPr>
              <a:t>Owner name vs. management company name not always distinguishable</a:t>
            </a:r>
            <a:endParaRPr lang="en-US" sz="1250" dirty="0"/>
          </a:p>
        </p:txBody>
      </p:sp>
      <p:sp>
        <p:nvSpPr>
          <p:cNvPr id="27" name="Shape 19"/>
          <p:cNvSpPr/>
          <p:nvPr/>
        </p:nvSpPr>
        <p:spPr>
          <a:xfrm>
            <a:off x="4617720" y="4892040"/>
            <a:ext cx="6949440" cy="1417320"/>
          </a:xfrm>
          <a:prstGeom prst="roundRect">
            <a:avLst>
              <a:gd name="adj" fmla="val 6452"/>
            </a:avLst>
          </a:prstGeom>
          <a:solidFill>
            <a:srgbClr val="F4F7F8"/>
          </a:solidFill>
          <a:ln/>
        </p:spPr>
      </p:sp>
      <p:sp>
        <p:nvSpPr>
          <p:cNvPr id="28" name="Text 20"/>
          <p:cNvSpPr txBox="1"/>
          <p:nvPr/>
        </p:nvSpPr>
        <p:spPr>
          <a:xfrm>
            <a:off x="4846320" y="5029200"/>
            <a:ext cx="6400800" cy="32004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How to use it</a:t>
            </a:r>
            <a:endParaRPr lang="en-US" sz="1300" dirty="0"/>
          </a:p>
        </p:txBody>
      </p:sp>
      <p:sp>
        <p:nvSpPr>
          <p:cNvPr id="29" name="Text 21"/>
          <p:cNvSpPr txBox="1"/>
          <p:nvPr/>
        </p:nvSpPr>
        <p:spPr>
          <a:xfrm>
            <a:off x="4846320" y="5349240"/>
            <a:ext cx="6446520" cy="868680"/>
          </a:xfrm>
          <a:prstGeom prst="rect">
            <a:avLst/>
          </a:prstGeom>
          <a:noFill/>
          <a:ln/>
        </p:spPr>
        <p:txBody>
          <a:bodyPr wrap="square" lIns="0" tIns="0" rIns="0" bIns="0" rtlCol="0" anchor="ctr"/>
          <a:lstStyle/>
          <a:p>
            <a:pPr indent="0" marL="0">
              <a:lnSpc>
                <a:spcPct val="115000"/>
              </a:lnSpc>
              <a:buNone/>
            </a:pPr>
            <a:r>
              <a:rPr lang="en-US" sz="1200" dirty="0">
                <a:solidFill>
                  <a:srgbClr val="1B1F26"/>
                </a:solidFill>
                <a:latin typeface="Calibri" pitchFamily="34" charset="0"/>
                <a:ea typeface="Calibri" pitchFamily="34" charset="-122"/>
                <a:cs typeface="Calibri" pitchFamily="34" charset="-120"/>
              </a:rPr>
              <a:t>Scrape the address + license number for every Short-Let record, then enrich each one by cross-referencing the address against Maltapark and owner-focused Facebook groups to find a contact name.</a:t>
            </a:r>
            <a:endParaRPr lang="en-US" sz="1200" dirty="0"/>
          </a:p>
        </p:txBody>
      </p:sp>
      <p:sp>
        <p:nvSpPr>
          <p:cNvPr id="30" name="Text 22"/>
          <p:cNvSpPr/>
          <p:nvPr/>
        </p:nvSpPr>
        <p:spPr>
          <a:xfrm>
            <a:off x="457200" y="6519672"/>
            <a:ext cx="7315200" cy="274320"/>
          </a:xfrm>
          <a:prstGeom prst="rect">
            <a:avLst/>
          </a:prstGeom>
          <a:noFill/>
          <a:ln/>
        </p:spPr>
        <p:txBody>
          <a:bodyPr wrap="square" rtlCol="0" anchor="ctr"/>
          <a:lstStyle/>
          <a:p>
            <a:pPr indent="0" marL="0">
              <a:buNone/>
            </a:pPr>
            <a:r>
              <a:rPr lang="en-US" sz="900" dirty="0">
                <a:solidFill>
                  <a:srgbClr val="5C6B73"/>
                </a:solidFill>
                <a:latin typeface="Calibri" pitchFamily="34" charset="0"/>
                <a:ea typeface="Calibri" pitchFamily="34" charset="-122"/>
                <a:cs typeface="Calibri" pitchFamily="34" charset="-120"/>
              </a:rPr>
              <a:t>Slide 5</a:t>
            </a:r>
            <a:endParaRPr lang="en-US" sz="900" dirty="0"/>
          </a:p>
        </p:txBody>
      </p:sp>
      <p:sp>
        <p:nvSpPr>
          <p:cNvPr id="31" name="Text 23"/>
          <p:cNvSpPr/>
          <p:nvPr/>
        </p:nvSpPr>
        <p:spPr>
          <a:xfrm>
            <a:off x="7772400" y="6519672"/>
            <a:ext cx="3931920" cy="274320"/>
          </a:xfrm>
          <a:prstGeom prst="rect">
            <a:avLst/>
          </a:prstGeom>
          <a:noFill/>
          <a:ln/>
        </p:spPr>
        <p:txBody>
          <a:bodyPr wrap="square" rtlCol="0" anchor="ctr"/>
          <a:lstStyle/>
          <a:p>
            <a:pPr algn="r" indent="0" marL="0">
              <a:buNone/>
            </a:pPr>
            <a:r>
              <a:rPr lang="en-US" sz="900" dirty="0">
                <a:solidFill>
                  <a:srgbClr val="5C6B73"/>
                </a:solidFill>
                <a:latin typeface="Calibri" pitchFamily="34" charset="0"/>
                <a:ea typeface="Calibri" pitchFamily="34" charset="-122"/>
                <a:cs typeface="Calibri" pitchFamily="34" charset="-120"/>
              </a:rPr>
              <a:t>Malta Property Owner Data — Research Summary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C7293"/>
          </a:solidFill>
          <a:ln/>
        </p:spPr>
      </p:sp>
      <p:sp>
        <p:nvSpPr>
          <p:cNvPr id="3" name="Shape 1"/>
          <p:cNvSpPr/>
          <p:nvPr/>
        </p:nvSpPr>
        <p:spPr>
          <a:xfrm>
            <a:off x="-1097280" y="-914400"/>
            <a:ext cx="3200400" cy="3200400"/>
          </a:xfrm>
          <a:prstGeom prst="ellipse">
            <a:avLst/>
          </a:prstGeom>
          <a:solidFill>
            <a:srgbClr val="065A82">
              <a:alpha val="55000"/>
            </a:srgbClr>
          </a:solidFill>
          <a:ln/>
        </p:spPr>
      </p:sp>
      <p:pic>
        <p:nvPicPr>
          <p:cNvPr id="4" name="Image 0" descr="/home/claude/ppt/white_icon_envelope.png">    </p:cNvPr>
          <p:cNvPicPr>
            <a:picLocks noChangeAspect="1"/>
          </p:cNvPicPr>
          <p:nvPr/>
        </p:nvPicPr>
        <p:blipFill>
          <a:blip r:embed="rId1"/>
          <a:stretch>
            <a:fillRect/>
          </a:stretch>
        </p:blipFill>
        <p:spPr>
          <a:xfrm>
            <a:off x="640080" y="685800"/>
            <a:ext cx="594360" cy="594360"/>
          </a:xfrm>
          <a:prstGeom prst="rect">
            <a:avLst/>
          </a:prstGeom>
        </p:spPr>
      </p:pic>
      <p:sp>
        <p:nvSpPr>
          <p:cNvPr id="5" name="Text 2"/>
          <p:cNvSpPr txBox="1"/>
          <p:nvPr/>
        </p:nvSpPr>
        <p:spPr>
          <a:xfrm>
            <a:off x="640080" y="1463040"/>
            <a:ext cx="2743200" cy="32004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TIER 2</a:t>
            </a:r>
            <a:endParaRPr lang="en-US" sz="1200" dirty="0"/>
          </a:p>
        </p:txBody>
      </p:sp>
      <p:sp>
        <p:nvSpPr>
          <p:cNvPr id="6" name="Text 3"/>
          <p:cNvSpPr txBox="1"/>
          <p:nvPr/>
        </p:nvSpPr>
        <p:spPr>
          <a:xfrm>
            <a:off x="640080" y="1828800"/>
            <a:ext cx="3291840" cy="12801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Direct-From-Owner</a:t>
            </a:r>
            <a:endParaRPr lang="en-US" sz="2600" dirty="0"/>
          </a:p>
          <a:p>
            <a:pPr indent="0" marL="0">
              <a:buNone/>
            </a:pPr>
            <a:r>
              <a:rPr lang="en-US" sz="2600" b="1" dirty="0">
                <a:solidFill>
                  <a:srgbClr val="FFFFFF"/>
                </a:solidFill>
                <a:latin typeface="Cambria" pitchFamily="34" charset="0"/>
                <a:ea typeface="Cambria" pitchFamily="34" charset="-122"/>
                <a:cs typeface="Cambria" pitchFamily="34" charset="-120"/>
              </a:rPr>
              <a:t>Classifieds</a:t>
            </a:r>
            <a:endParaRPr lang="en-US" sz="2600" dirty="0"/>
          </a:p>
        </p:txBody>
      </p:sp>
      <p:sp>
        <p:nvSpPr>
          <p:cNvPr id="7" name="Text 4"/>
          <p:cNvSpPr txBox="1"/>
          <p:nvPr/>
        </p:nvSpPr>
        <p:spPr>
          <a:xfrm>
            <a:off x="640080" y="3291840"/>
            <a:ext cx="3291840" cy="822960"/>
          </a:xfrm>
          <a:prstGeom prst="rect">
            <a:avLst/>
          </a:prstGeom>
          <a:noFill/>
          <a:ln/>
        </p:spPr>
        <p:txBody>
          <a:bodyPr wrap="square" lIns="0" tIns="0" rIns="0" bIns="0" rtlCol="0" anchor="ctr"/>
          <a:lstStyle/>
          <a:p>
            <a:pPr indent="0" marL="0">
              <a:buNone/>
            </a:pPr>
            <a:r>
              <a:rPr lang="en-US" sz="3400" b="1" dirty="0">
                <a:solidFill>
                  <a:srgbClr val="E8A33D"/>
                </a:solidFill>
                <a:latin typeface="Cambria" pitchFamily="34" charset="0"/>
                <a:ea typeface="Cambria" pitchFamily="34" charset="-122"/>
                <a:cs typeface="Cambria" pitchFamily="34" charset="-120"/>
              </a:rPr>
              <a:t>Open contact</a:t>
            </a:r>
            <a:endParaRPr lang="en-US" sz="3400" dirty="0"/>
          </a:p>
        </p:txBody>
      </p:sp>
      <p:sp>
        <p:nvSpPr>
          <p:cNvPr id="8" name="Text 5"/>
          <p:cNvSpPr txBox="1"/>
          <p:nvPr/>
        </p:nvSpPr>
        <p:spPr>
          <a:xfrm>
            <a:off x="640080" y="4023360"/>
            <a:ext cx="3200400" cy="822960"/>
          </a:xfrm>
          <a:prstGeom prst="rect">
            <a:avLst/>
          </a:prstGeom>
          <a:noFill/>
          <a:ln/>
        </p:spPr>
        <p:txBody>
          <a:bodyPr wrap="square" lIns="0" tIns="0" rIns="0" bIns="0" rtlCol="0" anchor="ctr"/>
          <a:lstStyle/>
          <a:p>
            <a:pPr indent="0" marL="0">
              <a:buNone/>
            </a:pPr>
            <a:r>
              <a:rPr lang="en-US" sz="1250" dirty="0">
                <a:solidFill>
                  <a:srgbClr val="E4F0EE"/>
                </a:solidFill>
                <a:latin typeface="Calibri" pitchFamily="34" charset="0"/>
                <a:ea typeface="Calibri" pitchFamily="34" charset="-122"/>
                <a:cs typeface="Calibri" pitchFamily="34" charset="-120"/>
              </a:rPr>
              <a:t>email + mobile number sit directly in the listing text — no login needed</a:t>
            </a:r>
            <a:endParaRPr lang="en-US" sz="1250" dirty="0"/>
          </a:p>
        </p:txBody>
      </p:sp>
      <p:sp>
        <p:nvSpPr>
          <p:cNvPr id="9" name="Text 6">
            <a:hlinkClick r:id="rId2" tooltip=""/>
          </p:cNvPr>
          <p:cNvSpPr txBox="1"/>
          <p:nvPr/>
        </p:nvSpPr>
        <p:spPr>
          <a:xfrm>
            <a:off x="640080" y="5760720"/>
            <a:ext cx="3200400" cy="365760"/>
          </a:xfrm>
          <a:prstGeom prst="rect">
            <a:avLst/>
          </a:prstGeom>
          <a:noFill/>
          <a:ln/>
        </p:spPr>
        <p:txBody>
          <a:bodyPr wrap="square" lIns="0" tIns="0" rIns="0" bIns="0" rtlCol="0" anchor="ctr"/>
          <a:lstStyle/>
          <a:p>
            <a:pPr indent="0" marL="0">
              <a:buNone/>
            </a:pPr>
            <a:r>
              <a:rPr lang="en-US" sz="12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directfromowner.eu</a:t>
            </a:r>
            <a:endParaRPr lang="en-US" sz="1200" dirty="0"/>
          </a:p>
        </p:txBody>
      </p:sp>
      <p:sp>
        <p:nvSpPr>
          <p:cNvPr id="10" name="Text 7">
            <a:hlinkClick r:id="rId3" tooltip=""/>
          </p:cNvPr>
          <p:cNvSpPr txBox="1"/>
          <p:nvPr/>
        </p:nvSpPr>
        <p:spPr>
          <a:xfrm>
            <a:off x="640080" y="6080760"/>
            <a:ext cx="3200400" cy="365760"/>
          </a:xfrm>
          <a:prstGeom prst="rect">
            <a:avLst/>
          </a:prstGeom>
          <a:noFill/>
          <a:ln/>
        </p:spPr>
        <p:txBody>
          <a:bodyPr wrap="square" lIns="0" tIns="0" rIns="0" bIns="0" rtlCol="0" anchor="ctr"/>
          <a:lstStyle/>
          <a:p>
            <a:pPr indent="0" marL="0">
              <a:buNone/>
            </a:pPr>
            <a:r>
              <a:rPr lang="en-US" sz="12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darscover.com  •  homesinmalta.com</a:t>
            </a:r>
            <a:endParaRPr lang="en-US" sz="1200" dirty="0"/>
          </a:p>
        </p:txBody>
      </p:sp>
      <p:sp>
        <p:nvSpPr>
          <p:cNvPr id="11" name="Text 8"/>
          <p:cNvSpPr txBox="1"/>
          <p:nvPr/>
        </p:nvSpPr>
        <p:spPr>
          <a:xfrm>
            <a:off x="4617720" y="594360"/>
            <a:ext cx="6949440" cy="457200"/>
          </a:xfrm>
          <a:prstGeom prst="rect">
            <a:avLst/>
          </a:prstGeom>
          <a:noFill/>
          <a:ln/>
        </p:spPr>
        <p:txBody>
          <a:bodyPr wrap="square" lIns="0" tIns="0" rIns="0" bIns="0" rtlCol="0" anchor="ctr"/>
          <a:lstStyle/>
          <a:p>
            <a:pPr indent="0" marL="0">
              <a:buNone/>
            </a:pPr>
            <a:r>
              <a:rPr lang="en-US" sz="2000" b="1" dirty="0">
                <a:solidFill>
                  <a:srgbClr val="21295C"/>
                </a:solidFill>
                <a:latin typeface="Cambria" pitchFamily="34" charset="0"/>
                <a:ea typeface="Cambria" pitchFamily="34" charset="-122"/>
                <a:cs typeface="Cambria" pitchFamily="34" charset="-120"/>
              </a:rPr>
              <a:t>What it is</a:t>
            </a:r>
            <a:endParaRPr lang="en-US" sz="2000" dirty="0"/>
          </a:p>
        </p:txBody>
      </p:sp>
      <p:sp>
        <p:nvSpPr>
          <p:cNvPr id="12" name="Text 9"/>
          <p:cNvSpPr txBox="1"/>
          <p:nvPr/>
        </p:nvSpPr>
        <p:spPr>
          <a:xfrm>
            <a:off x="4617720" y="1051560"/>
            <a:ext cx="6949440" cy="914400"/>
          </a:xfrm>
          <a:prstGeom prst="rect">
            <a:avLst/>
          </a:prstGeom>
          <a:noFill/>
          <a:ln/>
        </p:spPr>
        <p:txBody>
          <a:bodyPr wrap="square" lIns="0" tIns="0" rIns="0" bIns="0" rtlCol="0" anchor="ctr"/>
          <a:lstStyle/>
          <a:p>
            <a:pPr indent="0" marL="0">
              <a:lnSpc>
                <a:spcPct val="120000"/>
              </a:lnSpc>
              <a:buNone/>
            </a:pPr>
            <a:r>
              <a:rPr lang="en-US" sz="1300" dirty="0">
                <a:solidFill>
                  <a:srgbClr val="1B1F26"/>
                </a:solidFill>
                <a:latin typeface="Calibri" pitchFamily="34" charset="0"/>
                <a:ea typeface="Calibri" pitchFamily="34" charset="-122"/>
                <a:cs typeface="Calibri" pitchFamily="34" charset="-120"/>
              </a:rPr>
              <a:t>A cluster of classifieds-style sites built specifically for owners listing without an agent. Because there's no middleman, listings typically include the owner's real name, phone number and e-mail in plain text.</a:t>
            </a:r>
            <a:endParaRPr lang="en-US" sz="1300" dirty="0"/>
          </a:p>
        </p:txBody>
      </p:sp>
      <p:sp>
        <p:nvSpPr>
          <p:cNvPr id="13" name="Shape 10"/>
          <p:cNvSpPr/>
          <p:nvPr/>
        </p:nvSpPr>
        <p:spPr>
          <a:xfrm>
            <a:off x="4617720" y="2103120"/>
            <a:ext cx="6949440" cy="1371600"/>
          </a:xfrm>
          <a:prstGeom prst="roundRect">
            <a:avLst>
              <a:gd name="adj" fmla="val 6667"/>
            </a:avLst>
          </a:prstGeom>
          <a:solidFill>
            <a:srgbClr val="F4F7F8"/>
          </a:solidFill>
          <a:ln/>
        </p:spPr>
      </p:sp>
      <p:sp>
        <p:nvSpPr>
          <p:cNvPr id="14" name="Text 11"/>
          <p:cNvSpPr txBox="1"/>
          <p:nvPr/>
        </p:nvSpPr>
        <p:spPr>
          <a:xfrm>
            <a:off x="4846320" y="2212848"/>
            <a:ext cx="6400800" cy="274320"/>
          </a:xfrm>
          <a:prstGeom prst="rect">
            <a:avLst/>
          </a:prstGeom>
          <a:noFill/>
          <a:ln/>
        </p:spPr>
        <p:txBody>
          <a:bodyPr wrap="square" lIns="0" tIns="0" rIns="0" bIns="0" rtlCol="0" anchor="ctr"/>
          <a:lstStyle/>
          <a:p>
            <a:pPr indent="0" marL="0">
              <a:buNone/>
            </a:pPr>
            <a:r>
              <a:rPr lang="en-US" sz="1100" b="1" dirty="0">
                <a:solidFill>
                  <a:srgbClr val="5C6B73"/>
                </a:solidFill>
                <a:latin typeface="Calibri" pitchFamily="34" charset="0"/>
                <a:ea typeface="Calibri" pitchFamily="34" charset="-122"/>
                <a:cs typeface="Calibri" pitchFamily="34" charset="-120"/>
              </a:rPr>
              <a:t>Example listing snippet</a:t>
            </a:r>
            <a:endParaRPr lang="en-US" sz="1100" dirty="0"/>
          </a:p>
        </p:txBody>
      </p:sp>
      <p:sp>
        <p:nvSpPr>
          <p:cNvPr id="15" name="Text 12"/>
          <p:cNvSpPr txBox="1"/>
          <p:nvPr/>
        </p:nvSpPr>
        <p:spPr>
          <a:xfrm>
            <a:off x="4846320" y="2487168"/>
            <a:ext cx="6446520" cy="822960"/>
          </a:xfrm>
          <a:prstGeom prst="rect">
            <a:avLst/>
          </a:prstGeom>
          <a:noFill/>
          <a:ln/>
        </p:spPr>
        <p:txBody>
          <a:bodyPr wrap="square" lIns="0" tIns="0" rIns="0" bIns="0" rtlCol="0" anchor="ctr"/>
          <a:lstStyle/>
          <a:p>
            <a:pPr indent="0" marL="0">
              <a:buNone/>
            </a:pPr>
            <a:r>
              <a:rPr lang="en-US" sz="1350" i="1" dirty="0">
                <a:solidFill>
                  <a:srgbClr val="1B1F26"/>
                </a:solidFill>
                <a:latin typeface="Courier New" pitchFamily="34" charset="0"/>
                <a:ea typeface="Courier New" pitchFamily="34" charset="-122"/>
                <a:cs typeface="Courier New" pitchFamily="34" charset="-120"/>
              </a:rPr>
              <a:t>“Maisonette, Siggiewi — €1,300–1,500/mo   ittri@icloud.com   99492682”</a:t>
            </a:r>
            <a:endParaRPr lang="en-US" sz="1350" dirty="0"/>
          </a:p>
        </p:txBody>
      </p:sp>
      <p:sp>
        <p:nvSpPr>
          <p:cNvPr id="16" name="Shape 13"/>
          <p:cNvSpPr/>
          <p:nvPr/>
        </p:nvSpPr>
        <p:spPr>
          <a:xfrm>
            <a:off x="4617720" y="3749040"/>
            <a:ext cx="292608" cy="292608"/>
          </a:xfrm>
          <a:prstGeom prst="ellipse">
            <a:avLst/>
          </a:prstGeom>
          <a:solidFill>
            <a:srgbClr val="1C7293"/>
          </a:solidFill>
          <a:ln/>
        </p:spPr>
      </p:sp>
      <p:pic>
        <p:nvPicPr>
          <p:cNvPr id="17" name="Image 1" descr="/home/claude/ppt/white_icon_check.png">    </p:cNvPr>
          <p:cNvPicPr>
            <a:picLocks noChangeAspect="1"/>
          </p:cNvPicPr>
          <p:nvPr/>
        </p:nvPicPr>
        <p:blipFill>
          <a:blip r:embed="rId4"/>
          <a:stretch>
            <a:fillRect/>
          </a:stretch>
        </p:blipFill>
        <p:spPr>
          <a:xfrm>
            <a:off x="4690872" y="3822192"/>
            <a:ext cx="146304" cy="146304"/>
          </a:xfrm>
          <a:prstGeom prst="rect">
            <a:avLst/>
          </a:prstGeom>
        </p:spPr>
      </p:pic>
      <p:sp>
        <p:nvSpPr>
          <p:cNvPr id="18" name="Text 14"/>
          <p:cNvSpPr txBox="1"/>
          <p:nvPr/>
        </p:nvSpPr>
        <p:spPr>
          <a:xfrm>
            <a:off x="5074920" y="3694176"/>
            <a:ext cx="6492240" cy="457200"/>
          </a:xfrm>
          <a:prstGeom prst="rect">
            <a:avLst/>
          </a:prstGeom>
          <a:noFill/>
          <a:ln/>
        </p:spPr>
        <p:txBody>
          <a:bodyPr wrap="square" lIns="0" tIns="0" rIns="0" bIns="0" rtlCol="0" anchor="ctr"/>
          <a:lstStyle/>
          <a:p>
            <a:pPr indent="0" marL="0">
              <a:buNone/>
            </a:pPr>
            <a:r>
              <a:rPr lang="en-US" sz="1250" dirty="0">
                <a:solidFill>
                  <a:srgbClr val="1B1F26"/>
                </a:solidFill>
                <a:latin typeface="Calibri" pitchFamily="34" charset="0"/>
                <a:ea typeface="Calibri" pitchFamily="34" charset="-122"/>
                <a:cs typeface="Calibri" pitchFamily="34" charset="-120"/>
              </a:rPr>
              <a:t>Fastest source to action — ready for cold email or WhatsApp outreach immediately</a:t>
            </a:r>
            <a:endParaRPr lang="en-US" sz="1250" dirty="0"/>
          </a:p>
        </p:txBody>
      </p:sp>
      <p:sp>
        <p:nvSpPr>
          <p:cNvPr id="19" name="Shape 15"/>
          <p:cNvSpPr/>
          <p:nvPr/>
        </p:nvSpPr>
        <p:spPr>
          <a:xfrm>
            <a:off x="4617720" y="4251960"/>
            <a:ext cx="292608" cy="292608"/>
          </a:xfrm>
          <a:prstGeom prst="ellipse">
            <a:avLst/>
          </a:prstGeom>
          <a:solidFill>
            <a:srgbClr val="1C7293"/>
          </a:solidFill>
          <a:ln/>
        </p:spPr>
      </p:sp>
      <p:pic>
        <p:nvPicPr>
          <p:cNvPr id="20" name="Image 2" descr="/home/claude/ppt/white_icon_check.png">    </p:cNvPr>
          <p:cNvPicPr>
            <a:picLocks noChangeAspect="1"/>
          </p:cNvPicPr>
          <p:nvPr/>
        </p:nvPicPr>
        <p:blipFill>
          <a:blip r:embed="rId5"/>
          <a:stretch>
            <a:fillRect/>
          </a:stretch>
        </p:blipFill>
        <p:spPr>
          <a:xfrm>
            <a:off x="4690872" y="4325112"/>
            <a:ext cx="146304" cy="146304"/>
          </a:xfrm>
          <a:prstGeom prst="rect">
            <a:avLst/>
          </a:prstGeom>
        </p:spPr>
      </p:pic>
      <p:sp>
        <p:nvSpPr>
          <p:cNvPr id="21" name="Text 16"/>
          <p:cNvSpPr txBox="1"/>
          <p:nvPr/>
        </p:nvSpPr>
        <p:spPr>
          <a:xfrm>
            <a:off x="5074920" y="4197096"/>
            <a:ext cx="6492240" cy="457200"/>
          </a:xfrm>
          <a:prstGeom prst="rect">
            <a:avLst/>
          </a:prstGeom>
          <a:noFill/>
          <a:ln/>
        </p:spPr>
        <p:txBody>
          <a:bodyPr wrap="square" lIns="0" tIns="0" rIns="0" bIns="0" rtlCol="0" anchor="ctr"/>
          <a:lstStyle/>
          <a:p>
            <a:pPr indent="0" marL="0">
              <a:buNone/>
            </a:pPr>
            <a:r>
              <a:rPr lang="en-US" sz="1250" dirty="0">
                <a:solidFill>
                  <a:srgbClr val="1B1F26"/>
                </a:solidFill>
                <a:latin typeface="Calibri" pitchFamily="34" charset="0"/>
                <a:ea typeface="Calibri" pitchFamily="34" charset="-122"/>
                <a:cs typeface="Calibri" pitchFamily="34" charset="-120"/>
              </a:rPr>
              <a:t>Confirms owner (not agent) since it's a self-listing platform by design</a:t>
            </a:r>
            <a:endParaRPr lang="en-US" sz="1250" dirty="0"/>
          </a:p>
        </p:txBody>
      </p:sp>
      <p:sp>
        <p:nvSpPr>
          <p:cNvPr id="22" name="Shape 17"/>
          <p:cNvSpPr/>
          <p:nvPr/>
        </p:nvSpPr>
        <p:spPr>
          <a:xfrm>
            <a:off x="4617720" y="4754880"/>
            <a:ext cx="292608" cy="292608"/>
          </a:xfrm>
          <a:prstGeom prst="ellipse">
            <a:avLst/>
          </a:prstGeom>
          <a:solidFill>
            <a:srgbClr val="B85042"/>
          </a:solidFill>
          <a:ln/>
        </p:spPr>
      </p:sp>
      <p:pic>
        <p:nvPicPr>
          <p:cNvPr id="23" name="Image 3" descr="/home/claude/ppt/white_icon_warning.png">    </p:cNvPr>
          <p:cNvPicPr>
            <a:picLocks noChangeAspect="1"/>
          </p:cNvPicPr>
          <p:nvPr/>
        </p:nvPicPr>
        <p:blipFill>
          <a:blip r:embed="rId6"/>
          <a:stretch>
            <a:fillRect/>
          </a:stretch>
        </p:blipFill>
        <p:spPr>
          <a:xfrm>
            <a:off x="4690872" y="4828032"/>
            <a:ext cx="146304" cy="146304"/>
          </a:xfrm>
          <a:prstGeom prst="rect">
            <a:avLst/>
          </a:prstGeom>
        </p:spPr>
      </p:pic>
      <p:sp>
        <p:nvSpPr>
          <p:cNvPr id="24" name="Text 18"/>
          <p:cNvSpPr txBox="1"/>
          <p:nvPr/>
        </p:nvSpPr>
        <p:spPr>
          <a:xfrm>
            <a:off x="5074920" y="4700016"/>
            <a:ext cx="6492240" cy="457200"/>
          </a:xfrm>
          <a:prstGeom prst="rect">
            <a:avLst/>
          </a:prstGeom>
          <a:noFill/>
          <a:ln/>
        </p:spPr>
        <p:txBody>
          <a:bodyPr wrap="square" lIns="0" tIns="0" rIns="0" bIns="0" rtlCol="0" anchor="ctr"/>
          <a:lstStyle/>
          <a:p>
            <a:pPr indent="0" marL="0">
              <a:buNone/>
            </a:pPr>
            <a:r>
              <a:rPr lang="en-US" sz="1250" dirty="0">
                <a:solidFill>
                  <a:srgbClr val="1B1F26"/>
                </a:solidFill>
                <a:latin typeface="Calibri" pitchFamily="34" charset="0"/>
                <a:ea typeface="Calibri" pitchFamily="34" charset="-122"/>
                <a:cs typeface="Calibri" pitchFamily="34" charset="-120"/>
              </a:rPr>
              <a:t>Lower overall volume than Maltapark or the MTA register</a:t>
            </a:r>
            <a:endParaRPr lang="en-US" sz="1250" dirty="0"/>
          </a:p>
        </p:txBody>
      </p:sp>
      <p:sp>
        <p:nvSpPr>
          <p:cNvPr id="25" name="Shape 19"/>
          <p:cNvSpPr/>
          <p:nvPr/>
        </p:nvSpPr>
        <p:spPr>
          <a:xfrm>
            <a:off x="4617720" y="5257800"/>
            <a:ext cx="6949440" cy="1051560"/>
          </a:xfrm>
          <a:prstGeom prst="roundRect">
            <a:avLst>
              <a:gd name="adj" fmla="val 8696"/>
            </a:avLst>
          </a:prstGeom>
          <a:solidFill>
            <a:srgbClr val="F4F7F8"/>
          </a:solidFill>
          <a:ln/>
        </p:spPr>
      </p:sp>
      <p:sp>
        <p:nvSpPr>
          <p:cNvPr id="26" name="Text 20"/>
          <p:cNvSpPr txBox="1"/>
          <p:nvPr/>
        </p:nvSpPr>
        <p:spPr>
          <a:xfrm>
            <a:off x="4846320" y="5367528"/>
            <a:ext cx="6400800" cy="32004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How to use it</a:t>
            </a:r>
            <a:endParaRPr lang="en-US" sz="1300" dirty="0"/>
          </a:p>
        </p:txBody>
      </p:sp>
      <p:sp>
        <p:nvSpPr>
          <p:cNvPr id="27" name="Text 21"/>
          <p:cNvSpPr txBox="1"/>
          <p:nvPr/>
        </p:nvSpPr>
        <p:spPr>
          <a:xfrm>
            <a:off x="4846320" y="5669280"/>
            <a:ext cx="6446520" cy="548640"/>
          </a:xfrm>
          <a:prstGeom prst="rect">
            <a:avLst/>
          </a:prstGeom>
          <a:noFill/>
          <a:ln/>
        </p:spPr>
        <p:txBody>
          <a:bodyPr wrap="square" lIns="0" tIns="0" rIns="0" bIns="0" rtlCol="0" anchor="ctr"/>
          <a:lstStyle/>
          <a:p>
            <a:pPr indent="0" marL="0">
              <a:lnSpc>
                <a:spcPct val="115000"/>
              </a:lnSpc>
              <a:buNone/>
            </a:pPr>
            <a:r>
              <a:rPr lang="en-US" sz="1200" dirty="0">
                <a:solidFill>
                  <a:srgbClr val="1B1F26"/>
                </a:solidFill>
                <a:latin typeface="Calibri" pitchFamily="34" charset="0"/>
                <a:ea typeface="Calibri" pitchFamily="34" charset="-122"/>
                <a:cs typeface="Calibri" pitchFamily="34" charset="-120"/>
              </a:rPr>
              <a:t>Scrape listings directly for name, e-mail and phone — this is your fastest pilot-test batch.</a:t>
            </a:r>
            <a:endParaRPr lang="en-US" sz="1200" dirty="0"/>
          </a:p>
        </p:txBody>
      </p:sp>
      <p:sp>
        <p:nvSpPr>
          <p:cNvPr id="28" name="Text 22"/>
          <p:cNvSpPr/>
          <p:nvPr/>
        </p:nvSpPr>
        <p:spPr>
          <a:xfrm>
            <a:off x="457200" y="6519672"/>
            <a:ext cx="7315200" cy="274320"/>
          </a:xfrm>
          <a:prstGeom prst="rect">
            <a:avLst/>
          </a:prstGeom>
          <a:noFill/>
          <a:ln/>
        </p:spPr>
        <p:txBody>
          <a:bodyPr wrap="square" rtlCol="0" anchor="ctr"/>
          <a:lstStyle/>
          <a:p>
            <a:pPr indent="0" marL="0">
              <a:buNone/>
            </a:pPr>
            <a:r>
              <a:rPr lang="en-US" sz="900" dirty="0">
                <a:solidFill>
                  <a:srgbClr val="5C6B73"/>
                </a:solidFill>
                <a:latin typeface="Calibri" pitchFamily="34" charset="0"/>
                <a:ea typeface="Calibri" pitchFamily="34" charset="-122"/>
                <a:cs typeface="Calibri" pitchFamily="34" charset="-120"/>
              </a:rPr>
              <a:t>Slide 6</a:t>
            </a:r>
            <a:endParaRPr lang="en-US" sz="900" dirty="0"/>
          </a:p>
        </p:txBody>
      </p:sp>
      <p:sp>
        <p:nvSpPr>
          <p:cNvPr id="29" name="Text 23"/>
          <p:cNvSpPr/>
          <p:nvPr/>
        </p:nvSpPr>
        <p:spPr>
          <a:xfrm>
            <a:off x="7772400" y="6519672"/>
            <a:ext cx="3931920" cy="274320"/>
          </a:xfrm>
          <a:prstGeom prst="rect">
            <a:avLst/>
          </a:prstGeom>
          <a:noFill/>
          <a:ln/>
        </p:spPr>
        <p:txBody>
          <a:bodyPr wrap="square" rtlCol="0" anchor="ctr"/>
          <a:lstStyle/>
          <a:p>
            <a:pPr algn="r" indent="0" marL="0">
              <a:buNone/>
            </a:pPr>
            <a:r>
              <a:rPr lang="en-US" sz="900" dirty="0">
                <a:solidFill>
                  <a:srgbClr val="5C6B73"/>
                </a:solidFill>
                <a:latin typeface="Calibri" pitchFamily="34" charset="0"/>
                <a:ea typeface="Calibri" pitchFamily="34" charset="-122"/>
                <a:cs typeface="Calibri" pitchFamily="34" charset="-120"/>
              </a:rPr>
              <a:t>Malta Property Owner Data — Research Summary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21295C"/>
          </a:solidFill>
          <a:ln/>
        </p:spPr>
      </p:sp>
      <p:sp>
        <p:nvSpPr>
          <p:cNvPr id="3" name="Shape 1"/>
          <p:cNvSpPr/>
          <p:nvPr/>
        </p:nvSpPr>
        <p:spPr>
          <a:xfrm>
            <a:off x="2743200" y="-1188720"/>
            <a:ext cx="2926080" cy="2926080"/>
          </a:xfrm>
          <a:prstGeom prst="ellipse">
            <a:avLst/>
          </a:prstGeom>
          <a:solidFill>
            <a:srgbClr val="065A82">
              <a:alpha val="55000"/>
            </a:srgbClr>
          </a:solidFill>
          <a:ln/>
        </p:spPr>
      </p:sp>
      <p:pic>
        <p:nvPicPr>
          <p:cNvPr id="4" name="Image 0" descr="/home/claude/ppt/white_icon_list.png">    </p:cNvPr>
          <p:cNvPicPr>
            <a:picLocks noChangeAspect="1"/>
          </p:cNvPicPr>
          <p:nvPr/>
        </p:nvPicPr>
        <p:blipFill>
          <a:blip r:embed="rId1"/>
          <a:stretch>
            <a:fillRect/>
          </a:stretch>
        </p:blipFill>
        <p:spPr>
          <a:xfrm>
            <a:off x="640080" y="685800"/>
            <a:ext cx="594360" cy="594360"/>
          </a:xfrm>
          <a:prstGeom prst="rect">
            <a:avLst/>
          </a:prstGeom>
        </p:spPr>
      </p:pic>
      <p:sp>
        <p:nvSpPr>
          <p:cNvPr id="5" name="Text 2"/>
          <p:cNvSpPr txBox="1"/>
          <p:nvPr/>
        </p:nvSpPr>
        <p:spPr>
          <a:xfrm>
            <a:off x="640080" y="1463040"/>
            <a:ext cx="2743200" cy="32004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TIER 3</a:t>
            </a:r>
            <a:endParaRPr lang="en-US" sz="1200" dirty="0"/>
          </a:p>
        </p:txBody>
      </p:sp>
      <p:sp>
        <p:nvSpPr>
          <p:cNvPr id="6" name="Text 3"/>
          <p:cNvSpPr txBox="1"/>
          <p:nvPr/>
        </p:nvSpPr>
        <p:spPr>
          <a:xfrm>
            <a:off x="640080" y="1828800"/>
            <a:ext cx="3291840" cy="12801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Maltapark</a:t>
            </a:r>
            <a:endParaRPr lang="en-US" sz="2600" dirty="0"/>
          </a:p>
          <a:p>
            <a:pPr indent="0" marL="0">
              <a:buNone/>
            </a:pPr>
            <a:r>
              <a:rPr lang="en-US" sz="2600" b="1" dirty="0">
                <a:solidFill>
                  <a:srgbClr val="FFFFFF"/>
                </a:solidFill>
                <a:latin typeface="Cambria" pitchFamily="34" charset="0"/>
                <a:ea typeface="Cambria" pitchFamily="34" charset="-122"/>
                <a:cs typeface="Cambria" pitchFamily="34" charset="-120"/>
              </a:rPr>
              <a:t>Short &amp; Long Lets</a:t>
            </a:r>
            <a:endParaRPr lang="en-US" sz="2600" dirty="0"/>
          </a:p>
        </p:txBody>
      </p:sp>
      <p:sp>
        <p:nvSpPr>
          <p:cNvPr id="7" name="Text 4"/>
          <p:cNvSpPr txBox="1"/>
          <p:nvPr/>
        </p:nvSpPr>
        <p:spPr>
          <a:xfrm>
            <a:off x="640080" y="3291840"/>
            <a:ext cx="3291840" cy="685800"/>
          </a:xfrm>
          <a:prstGeom prst="rect">
            <a:avLst/>
          </a:prstGeom>
          <a:noFill/>
          <a:ln/>
        </p:spPr>
        <p:txBody>
          <a:bodyPr wrap="square" lIns="0" tIns="0" rIns="0" bIns="0" rtlCol="0" anchor="ctr"/>
          <a:lstStyle/>
          <a:p>
            <a:pPr indent="0" marL="0">
              <a:buNone/>
            </a:pPr>
            <a:r>
              <a:rPr lang="en-US" sz="3400" b="1" dirty="0">
                <a:solidFill>
                  <a:srgbClr val="E8A33D"/>
                </a:solidFill>
                <a:latin typeface="Cambria" pitchFamily="34" charset="0"/>
                <a:ea typeface="Cambria" pitchFamily="34" charset="-122"/>
                <a:cs typeface="Cambria" pitchFamily="34" charset="-120"/>
              </a:rPr>
              <a:t>293</a:t>
            </a:r>
            <a:endParaRPr lang="en-US" sz="3400" dirty="0"/>
          </a:p>
        </p:txBody>
      </p:sp>
      <p:sp>
        <p:nvSpPr>
          <p:cNvPr id="8" name="Text 5"/>
          <p:cNvSpPr txBox="1"/>
          <p:nvPr/>
        </p:nvSpPr>
        <p:spPr>
          <a:xfrm>
            <a:off x="640080" y="3931920"/>
            <a:ext cx="3200400" cy="822960"/>
          </a:xfrm>
          <a:prstGeom prst="rect">
            <a:avLst/>
          </a:prstGeom>
          <a:noFill/>
          <a:ln/>
        </p:spPr>
        <p:txBody>
          <a:bodyPr wrap="square" lIns="0" tIns="0" rIns="0" bIns="0" rtlCol="0" anchor="ctr"/>
          <a:lstStyle/>
          <a:p>
            <a:pPr indent="0" marL="0">
              <a:buNone/>
            </a:pPr>
            <a:r>
              <a:rPr lang="en-US" sz="1250" dirty="0">
                <a:solidFill>
                  <a:srgbClr val="D9E6F2"/>
                </a:solidFill>
                <a:latin typeface="Calibri" pitchFamily="34" charset="0"/>
                <a:ea typeface="Calibri" pitchFamily="34" charset="-122"/>
                <a:cs typeface="Calibri" pitchFamily="34" charset="-120"/>
              </a:rPr>
              <a:t>Short/Holiday Let listings  +  3,600 Long Let listings</a:t>
            </a:r>
            <a:endParaRPr lang="en-US" sz="1250" dirty="0"/>
          </a:p>
        </p:txBody>
      </p:sp>
      <p:sp>
        <p:nvSpPr>
          <p:cNvPr id="9" name="Text 6">
            <a:hlinkClick r:id="rId2" tooltip=""/>
          </p:cNvPr>
          <p:cNvSpPr txBox="1"/>
          <p:nvPr/>
        </p:nvSpPr>
        <p:spPr>
          <a:xfrm>
            <a:off x="640080" y="6035040"/>
            <a:ext cx="3200400" cy="365760"/>
          </a:xfrm>
          <a:prstGeom prst="rect">
            <a:avLst/>
          </a:prstGeom>
          <a:noFill/>
          <a:ln/>
        </p:spPr>
        <p:txBody>
          <a:bodyPr wrap="square" lIns="0" tIns="0" rIns="0" bIns="0" rtlCol="0" anchor="ctr"/>
          <a:lstStyle/>
          <a:p>
            <a:pPr indent="0" marL="0">
              <a:buNone/>
            </a:pPr>
            <a:r>
              <a:rPr lang="en-US" sz="12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maltapark.com</a:t>
            </a:r>
            <a:endParaRPr lang="en-US" sz="1200" dirty="0"/>
          </a:p>
        </p:txBody>
      </p:sp>
      <p:sp>
        <p:nvSpPr>
          <p:cNvPr id="10" name="Text 7"/>
          <p:cNvSpPr txBox="1"/>
          <p:nvPr/>
        </p:nvSpPr>
        <p:spPr>
          <a:xfrm>
            <a:off x="4617720" y="594360"/>
            <a:ext cx="6949440" cy="457200"/>
          </a:xfrm>
          <a:prstGeom prst="rect">
            <a:avLst/>
          </a:prstGeom>
          <a:noFill/>
          <a:ln/>
        </p:spPr>
        <p:txBody>
          <a:bodyPr wrap="square" lIns="0" tIns="0" rIns="0" bIns="0" rtlCol="0" anchor="ctr"/>
          <a:lstStyle/>
          <a:p>
            <a:pPr indent="0" marL="0">
              <a:buNone/>
            </a:pPr>
            <a:r>
              <a:rPr lang="en-US" sz="2000" b="1" dirty="0">
                <a:solidFill>
                  <a:srgbClr val="21295C"/>
                </a:solidFill>
                <a:latin typeface="Cambria" pitchFamily="34" charset="0"/>
                <a:ea typeface="Cambria" pitchFamily="34" charset="-122"/>
                <a:cs typeface="Cambria" pitchFamily="34" charset="-120"/>
              </a:rPr>
              <a:t>What it is</a:t>
            </a:r>
            <a:endParaRPr lang="en-US" sz="2000" dirty="0"/>
          </a:p>
        </p:txBody>
      </p:sp>
      <p:sp>
        <p:nvSpPr>
          <p:cNvPr id="11" name="Text 8"/>
          <p:cNvSpPr txBox="1"/>
          <p:nvPr/>
        </p:nvSpPr>
        <p:spPr>
          <a:xfrm>
            <a:off x="4617720" y="1051560"/>
            <a:ext cx="6949440" cy="914400"/>
          </a:xfrm>
          <a:prstGeom prst="rect">
            <a:avLst/>
          </a:prstGeom>
          <a:noFill/>
          <a:ln/>
        </p:spPr>
        <p:txBody>
          <a:bodyPr wrap="square" lIns="0" tIns="0" rIns="0" bIns="0" rtlCol="0" anchor="ctr"/>
          <a:lstStyle/>
          <a:p>
            <a:pPr indent="0" marL="0">
              <a:lnSpc>
                <a:spcPct val="120000"/>
              </a:lnSpc>
              <a:buNone/>
            </a:pPr>
            <a:r>
              <a:rPr lang="en-US" sz="1300" dirty="0">
                <a:solidFill>
                  <a:srgbClr val="1B1F26"/>
                </a:solidFill>
                <a:latin typeface="Calibri" pitchFamily="34" charset="0"/>
                <a:ea typeface="Calibri" pitchFamily="34" charset="-122"/>
                <a:cs typeface="Calibri" pitchFamily="34" charset="-120"/>
              </a:rPr>
              <a:t>Malta's largest classifieds site. Property listings are explicitly tagged OWNER or BROKER, and include location, property type and price — giving you a pre-qualified list of self-managing owners.</a:t>
            </a:r>
            <a:endParaRPr lang="en-US" sz="1300" dirty="0"/>
          </a:p>
        </p:txBody>
      </p:sp>
      <p:sp>
        <p:nvSpPr>
          <p:cNvPr id="12" name="Shape 9"/>
          <p:cNvSpPr/>
          <p:nvPr/>
        </p:nvSpPr>
        <p:spPr>
          <a:xfrm>
            <a:off x="4617720" y="2148840"/>
            <a:ext cx="292608" cy="292608"/>
          </a:xfrm>
          <a:prstGeom prst="ellipse">
            <a:avLst/>
          </a:prstGeom>
          <a:solidFill>
            <a:srgbClr val="1C7293"/>
          </a:solidFill>
          <a:ln/>
        </p:spPr>
      </p:sp>
      <p:pic>
        <p:nvPicPr>
          <p:cNvPr id="13" name="Image 1" descr="/home/claude/ppt/white_icon_check.png">    </p:cNvPr>
          <p:cNvPicPr>
            <a:picLocks noChangeAspect="1"/>
          </p:cNvPicPr>
          <p:nvPr/>
        </p:nvPicPr>
        <p:blipFill>
          <a:blip r:embed="rId3"/>
          <a:stretch>
            <a:fillRect/>
          </a:stretch>
        </p:blipFill>
        <p:spPr>
          <a:xfrm>
            <a:off x="4690872" y="2221992"/>
            <a:ext cx="146304" cy="146304"/>
          </a:xfrm>
          <a:prstGeom prst="rect">
            <a:avLst/>
          </a:prstGeom>
        </p:spPr>
      </p:pic>
      <p:sp>
        <p:nvSpPr>
          <p:cNvPr id="14" name="Text 10"/>
          <p:cNvSpPr txBox="1"/>
          <p:nvPr/>
        </p:nvSpPr>
        <p:spPr>
          <a:xfrm>
            <a:off x="5074920" y="2093976"/>
            <a:ext cx="6492240" cy="457200"/>
          </a:xfrm>
          <a:prstGeom prst="rect">
            <a:avLst/>
          </a:prstGeom>
          <a:noFill/>
          <a:ln/>
        </p:spPr>
        <p:txBody>
          <a:bodyPr wrap="square" lIns="0" tIns="0" rIns="0" bIns="0" rtlCol="0" anchor="ctr"/>
          <a:lstStyle/>
          <a:p>
            <a:pPr indent="0" marL="0">
              <a:buNone/>
            </a:pPr>
            <a:r>
              <a:rPr lang="en-US" sz="1250" dirty="0">
                <a:solidFill>
                  <a:srgbClr val="1B1F26"/>
                </a:solidFill>
                <a:latin typeface="Calibri" pitchFamily="34" charset="0"/>
                <a:ea typeface="Calibri" pitchFamily="34" charset="-122"/>
                <a:cs typeface="Calibri" pitchFamily="34" charset="-120"/>
              </a:rPr>
              <a:t>Largest volume of the three sources; owner vs. broker pre-tagged for you</a:t>
            </a:r>
            <a:endParaRPr lang="en-US" sz="1250" dirty="0"/>
          </a:p>
        </p:txBody>
      </p:sp>
      <p:sp>
        <p:nvSpPr>
          <p:cNvPr id="15" name="Shape 11"/>
          <p:cNvSpPr/>
          <p:nvPr/>
        </p:nvSpPr>
        <p:spPr>
          <a:xfrm>
            <a:off x="4617720" y="2651760"/>
            <a:ext cx="292608" cy="292608"/>
          </a:xfrm>
          <a:prstGeom prst="ellipse">
            <a:avLst/>
          </a:prstGeom>
          <a:solidFill>
            <a:srgbClr val="1C7293"/>
          </a:solidFill>
          <a:ln/>
        </p:spPr>
      </p:sp>
      <p:pic>
        <p:nvPicPr>
          <p:cNvPr id="16" name="Image 2" descr="/home/claude/ppt/white_icon_check.png">    </p:cNvPr>
          <p:cNvPicPr>
            <a:picLocks noChangeAspect="1"/>
          </p:cNvPicPr>
          <p:nvPr/>
        </p:nvPicPr>
        <p:blipFill>
          <a:blip r:embed="rId4"/>
          <a:stretch>
            <a:fillRect/>
          </a:stretch>
        </p:blipFill>
        <p:spPr>
          <a:xfrm>
            <a:off x="4690872" y="2724912"/>
            <a:ext cx="146304" cy="146304"/>
          </a:xfrm>
          <a:prstGeom prst="rect">
            <a:avLst/>
          </a:prstGeom>
        </p:spPr>
      </p:pic>
      <p:sp>
        <p:nvSpPr>
          <p:cNvPr id="17" name="Text 12"/>
          <p:cNvSpPr txBox="1"/>
          <p:nvPr/>
        </p:nvSpPr>
        <p:spPr>
          <a:xfrm>
            <a:off x="5074920" y="2596896"/>
            <a:ext cx="6492240" cy="457200"/>
          </a:xfrm>
          <a:prstGeom prst="rect">
            <a:avLst/>
          </a:prstGeom>
          <a:noFill/>
          <a:ln/>
        </p:spPr>
        <p:txBody>
          <a:bodyPr wrap="square" lIns="0" tIns="0" rIns="0" bIns="0" rtlCol="0" anchor="ctr"/>
          <a:lstStyle/>
          <a:p>
            <a:pPr indent="0" marL="0">
              <a:buNone/>
            </a:pPr>
            <a:r>
              <a:rPr lang="en-US" sz="1250" dirty="0">
                <a:solidFill>
                  <a:srgbClr val="1B1F26"/>
                </a:solidFill>
                <a:latin typeface="Calibri" pitchFamily="34" charset="0"/>
                <a:ea typeface="Calibri" pitchFamily="34" charset="-122"/>
                <a:cs typeface="Calibri" pitchFamily="34" charset="-120"/>
              </a:rPr>
              <a:t>Direct in-site messaging available to contact sellers without a phone number</a:t>
            </a:r>
            <a:endParaRPr lang="en-US" sz="1250" dirty="0"/>
          </a:p>
        </p:txBody>
      </p:sp>
      <p:sp>
        <p:nvSpPr>
          <p:cNvPr id="18" name="Shape 13"/>
          <p:cNvSpPr/>
          <p:nvPr/>
        </p:nvSpPr>
        <p:spPr>
          <a:xfrm>
            <a:off x="4617720" y="3154680"/>
            <a:ext cx="292608" cy="292608"/>
          </a:xfrm>
          <a:prstGeom prst="ellipse">
            <a:avLst/>
          </a:prstGeom>
          <a:solidFill>
            <a:srgbClr val="B85042"/>
          </a:solidFill>
          <a:ln/>
        </p:spPr>
      </p:sp>
      <p:pic>
        <p:nvPicPr>
          <p:cNvPr id="19" name="Image 3" descr="/home/claude/ppt/white_icon_warning.png">    </p:cNvPr>
          <p:cNvPicPr>
            <a:picLocks noChangeAspect="1"/>
          </p:cNvPicPr>
          <p:nvPr/>
        </p:nvPicPr>
        <p:blipFill>
          <a:blip r:embed="rId5"/>
          <a:stretch>
            <a:fillRect/>
          </a:stretch>
        </p:blipFill>
        <p:spPr>
          <a:xfrm>
            <a:off x="4690872" y="3227832"/>
            <a:ext cx="146304" cy="146304"/>
          </a:xfrm>
          <a:prstGeom prst="rect">
            <a:avLst/>
          </a:prstGeom>
        </p:spPr>
      </p:pic>
      <p:sp>
        <p:nvSpPr>
          <p:cNvPr id="20" name="Text 14"/>
          <p:cNvSpPr txBox="1"/>
          <p:nvPr/>
        </p:nvSpPr>
        <p:spPr>
          <a:xfrm>
            <a:off x="5074920" y="3099816"/>
            <a:ext cx="6492240" cy="457200"/>
          </a:xfrm>
          <a:prstGeom prst="rect">
            <a:avLst/>
          </a:prstGeom>
          <a:noFill/>
          <a:ln/>
        </p:spPr>
        <p:txBody>
          <a:bodyPr wrap="square" lIns="0" tIns="0" rIns="0" bIns="0" rtlCol="0" anchor="ctr"/>
          <a:lstStyle/>
          <a:p>
            <a:pPr indent="0" marL="0">
              <a:buNone/>
            </a:pPr>
            <a:r>
              <a:rPr lang="en-US" sz="1250" dirty="0">
                <a:solidFill>
                  <a:srgbClr val="1B1F26"/>
                </a:solidFill>
                <a:latin typeface="Calibri" pitchFamily="34" charset="0"/>
                <a:ea typeface="Calibri" pitchFamily="34" charset="-122"/>
                <a:cs typeface="Calibri" pitchFamily="34" charset="-120"/>
              </a:rPr>
              <a:t>Phone numbers show “Login to show number” — gated behind a free account</a:t>
            </a:r>
            <a:endParaRPr lang="en-US" sz="1250" dirty="0"/>
          </a:p>
        </p:txBody>
      </p:sp>
      <p:sp>
        <p:nvSpPr>
          <p:cNvPr id="21" name="Shape 15"/>
          <p:cNvSpPr/>
          <p:nvPr/>
        </p:nvSpPr>
        <p:spPr>
          <a:xfrm>
            <a:off x="4617720" y="3657600"/>
            <a:ext cx="292608" cy="292608"/>
          </a:xfrm>
          <a:prstGeom prst="ellipse">
            <a:avLst/>
          </a:prstGeom>
          <a:solidFill>
            <a:srgbClr val="B85042"/>
          </a:solidFill>
          <a:ln/>
        </p:spPr>
      </p:sp>
      <p:pic>
        <p:nvPicPr>
          <p:cNvPr id="22" name="Image 4" descr="/home/claude/ppt/white_icon_warning.png">    </p:cNvPr>
          <p:cNvPicPr>
            <a:picLocks noChangeAspect="1"/>
          </p:cNvPicPr>
          <p:nvPr/>
        </p:nvPicPr>
        <p:blipFill>
          <a:blip r:embed="rId6"/>
          <a:stretch>
            <a:fillRect/>
          </a:stretch>
        </p:blipFill>
        <p:spPr>
          <a:xfrm>
            <a:off x="4690872" y="3730752"/>
            <a:ext cx="146304" cy="146304"/>
          </a:xfrm>
          <a:prstGeom prst="rect">
            <a:avLst/>
          </a:prstGeom>
        </p:spPr>
      </p:pic>
      <p:sp>
        <p:nvSpPr>
          <p:cNvPr id="23" name="Text 16"/>
          <p:cNvSpPr txBox="1"/>
          <p:nvPr/>
        </p:nvSpPr>
        <p:spPr>
          <a:xfrm>
            <a:off x="5074920" y="3602736"/>
            <a:ext cx="6492240" cy="457200"/>
          </a:xfrm>
          <a:prstGeom prst="rect">
            <a:avLst/>
          </a:prstGeom>
          <a:noFill/>
          <a:ln/>
        </p:spPr>
        <p:txBody>
          <a:bodyPr wrap="square" lIns="0" tIns="0" rIns="0" bIns="0" rtlCol="0" anchor="ctr"/>
          <a:lstStyle/>
          <a:p>
            <a:pPr indent="0" marL="0">
              <a:buNone/>
            </a:pPr>
            <a:r>
              <a:rPr lang="en-US" sz="1250" dirty="0">
                <a:solidFill>
                  <a:srgbClr val="1B1F26"/>
                </a:solidFill>
                <a:latin typeface="Calibri" pitchFamily="34" charset="0"/>
                <a:ea typeface="Calibri" pitchFamily="34" charset="-122"/>
                <a:cs typeface="Calibri" pitchFamily="34" charset="-120"/>
              </a:rPr>
              <a:t>Bulk-revealing numbers programmatically risks breaching site terms of service</a:t>
            </a:r>
            <a:endParaRPr lang="en-US" sz="1250" dirty="0"/>
          </a:p>
        </p:txBody>
      </p:sp>
      <p:sp>
        <p:nvSpPr>
          <p:cNvPr id="24" name="Shape 17"/>
          <p:cNvSpPr/>
          <p:nvPr/>
        </p:nvSpPr>
        <p:spPr>
          <a:xfrm>
            <a:off x="4617720" y="4434840"/>
            <a:ext cx="6949440" cy="1874520"/>
          </a:xfrm>
          <a:prstGeom prst="roundRect">
            <a:avLst>
              <a:gd name="adj" fmla="val 4878"/>
            </a:avLst>
          </a:prstGeom>
          <a:solidFill>
            <a:srgbClr val="F4F7F8"/>
          </a:solidFill>
          <a:ln/>
        </p:spPr>
      </p:sp>
      <p:sp>
        <p:nvSpPr>
          <p:cNvPr id="25" name="Text 18"/>
          <p:cNvSpPr txBox="1"/>
          <p:nvPr/>
        </p:nvSpPr>
        <p:spPr>
          <a:xfrm>
            <a:off x="4846320" y="4544568"/>
            <a:ext cx="6400800" cy="32004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How to use it</a:t>
            </a:r>
            <a:endParaRPr lang="en-US" sz="1300" dirty="0"/>
          </a:p>
        </p:txBody>
      </p:sp>
      <p:sp>
        <p:nvSpPr>
          <p:cNvPr id="26" name="Text 19"/>
          <p:cNvSpPr txBox="1"/>
          <p:nvPr/>
        </p:nvSpPr>
        <p:spPr>
          <a:xfrm>
            <a:off x="4846320" y="4864608"/>
            <a:ext cx="6446520" cy="1325880"/>
          </a:xfrm>
          <a:prstGeom prst="rect">
            <a:avLst/>
          </a:prstGeom>
          <a:noFill/>
          <a:ln/>
        </p:spPr>
        <p:txBody>
          <a:bodyPr wrap="square" lIns="0" tIns="0" rIns="0" bIns="0" rtlCol="0" anchor="ctr"/>
          <a:lstStyle/>
          <a:p>
            <a:pPr indent="0" marL="0">
              <a:lnSpc>
                <a:spcPct val="120000"/>
              </a:lnSpc>
              <a:buNone/>
            </a:pPr>
            <a:r>
              <a:rPr lang="en-US" sz="1200" dirty="0">
                <a:solidFill>
                  <a:srgbClr val="1B1F26"/>
                </a:solidFill>
                <a:latin typeface="Calibri" pitchFamily="34" charset="0"/>
                <a:ea typeface="Calibri" pitchFamily="34" charset="-122"/>
                <a:cs typeface="Calibri" pitchFamily="34" charset="-120"/>
              </a:rPr>
              <a:t>Either (a) register a genuine account and message owner listings directly and personally at a sustainable pace, respecting site terms, or (b) scrape the public listing details (no login) to build a target list, then find the same owner through Facebook or Direct-From-Owner sites.</a:t>
            </a:r>
            <a:endParaRPr lang="en-US" sz="1200" dirty="0"/>
          </a:p>
        </p:txBody>
      </p:sp>
      <p:sp>
        <p:nvSpPr>
          <p:cNvPr id="27" name="Text 20"/>
          <p:cNvSpPr/>
          <p:nvPr/>
        </p:nvSpPr>
        <p:spPr>
          <a:xfrm>
            <a:off x="457200" y="6519672"/>
            <a:ext cx="7315200" cy="274320"/>
          </a:xfrm>
          <a:prstGeom prst="rect">
            <a:avLst/>
          </a:prstGeom>
          <a:noFill/>
          <a:ln/>
        </p:spPr>
        <p:txBody>
          <a:bodyPr wrap="square" rtlCol="0" anchor="ctr"/>
          <a:lstStyle/>
          <a:p>
            <a:pPr indent="0" marL="0">
              <a:buNone/>
            </a:pPr>
            <a:r>
              <a:rPr lang="en-US" sz="900" dirty="0">
                <a:solidFill>
                  <a:srgbClr val="5C6B73"/>
                </a:solidFill>
                <a:latin typeface="Calibri" pitchFamily="34" charset="0"/>
                <a:ea typeface="Calibri" pitchFamily="34" charset="-122"/>
                <a:cs typeface="Calibri" pitchFamily="34" charset="-120"/>
              </a:rPr>
              <a:t>Slide 7</a:t>
            </a:r>
            <a:endParaRPr lang="en-US" sz="900" dirty="0"/>
          </a:p>
        </p:txBody>
      </p:sp>
      <p:sp>
        <p:nvSpPr>
          <p:cNvPr id="28" name="Text 21"/>
          <p:cNvSpPr/>
          <p:nvPr/>
        </p:nvSpPr>
        <p:spPr>
          <a:xfrm>
            <a:off x="7772400" y="6519672"/>
            <a:ext cx="3931920" cy="274320"/>
          </a:xfrm>
          <a:prstGeom prst="rect">
            <a:avLst/>
          </a:prstGeom>
          <a:noFill/>
          <a:ln/>
        </p:spPr>
        <p:txBody>
          <a:bodyPr wrap="square" rtlCol="0" anchor="ctr"/>
          <a:lstStyle/>
          <a:p>
            <a:pPr algn="r" indent="0" marL="0">
              <a:buNone/>
            </a:pPr>
            <a:r>
              <a:rPr lang="en-US" sz="900" dirty="0">
                <a:solidFill>
                  <a:srgbClr val="5C6B73"/>
                </a:solidFill>
                <a:latin typeface="Calibri" pitchFamily="34" charset="0"/>
                <a:ea typeface="Calibri" pitchFamily="34" charset="-122"/>
                <a:cs typeface="Calibri" pitchFamily="34" charset="-120"/>
              </a:rPr>
              <a:t>Malta Property Owner Data — Research Summary</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11480"/>
            <a:ext cx="731520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Source Comparison</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4206240"/>
        </p:xfrm>
        <a:graphic>
          <a:graphicData uri="http://schemas.openxmlformats.org/drawingml/2006/table">
            <a:tbl>
              <a:tblPr/>
              <a:tblGrid>
                <a:gridCol w="2286000"/>
                <a:gridCol w="2926080"/>
                <a:gridCol w="2926080"/>
                <a:gridCol w="2926080"/>
              </a:tblGrid>
              <a:tr h="685800">
                <a:tc>
                  <a:txBody>
                    <a:bodyPr/>
                    <a:lstStyle/>
                    <a:p>
                      <a:pPr algn="l" indent="0" marL="0">
                        <a:buNone/>
                      </a:pPr>
                      <a:endParaRPr lang="en-US" sz="1300" dirty="0">
                        <a:latin typeface="Calibri" charset="0"/>
                        <a:ea typeface="Calibri" charset="0"/>
                        <a:cs typeface="Calibri"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295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MTA Register</a:t>
                      </a:r>
                      <a:endParaRPr lang="en-US" sz="1300" dirty="0">
                        <a:latin typeface="Calibri" charset="0"/>
                        <a:ea typeface="Calibri" charset="0"/>
                        <a:cs typeface="Calibri"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65A8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Direct-From-Owner</a:t>
                      </a:r>
                      <a:endParaRPr lang="en-US" sz="1300" dirty="0">
                        <a:latin typeface="Calibri" charset="0"/>
                        <a:ea typeface="Calibri" charset="0"/>
                        <a:cs typeface="Calibri"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65A8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Maltapark</a:t>
                      </a:r>
                      <a:endParaRPr lang="en-US" sz="1300" dirty="0">
                        <a:latin typeface="Calibri" charset="0"/>
                        <a:ea typeface="Calibri" charset="0"/>
                        <a:cs typeface="Calibri"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65A82"/>
                    </a:solidFill>
                  </a:tcPr>
                </a:tc>
              </a:tr>
              <a:tr h="685800">
                <a:tc>
                  <a:txBody>
                    <a:bodyPr/>
                    <a:lstStyle/>
                    <a:p>
                      <a:pPr algn="l" indent="0" marL="0">
                        <a:buNone/>
                      </a:pPr>
                      <a:r>
                        <a:rPr lang="en-US" sz="1250" b="1" dirty="0">
                          <a:solidFill>
                            <a:srgbClr val="1B1F26"/>
                          </a:solidFill>
                          <a:latin typeface="Calibri" pitchFamily="34" charset="0"/>
                          <a:ea typeface="Calibri" pitchFamily="34" charset="-122"/>
                          <a:cs typeface="Calibri" pitchFamily="34" charset="-120"/>
                        </a:rPr>
                        <a:t>Volume</a:t>
                      </a:r>
                      <a:endParaRPr lang="en-US" sz="1250" dirty="0">
                        <a:latin typeface="Calibri" charset="0"/>
                        <a:ea typeface="Calibri" charset="0"/>
                        <a:cs typeface="Calibri"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1F26"/>
                          </a:solidFill>
                          <a:latin typeface="Calibri" pitchFamily="34" charset="0"/>
                          <a:ea typeface="Calibri" pitchFamily="34" charset="-122"/>
                          <a:cs typeface="Calibri" pitchFamily="34" charset="-120"/>
                        </a:rPr>
                        <a:t>7,055+ (Malta)</a:t>
                      </a:r>
                      <a:endParaRPr lang="en-US" sz="1250" dirty="0">
                        <a:latin typeface="Calibri" charset="0"/>
                        <a:ea typeface="Calibri" charset="0"/>
                        <a:cs typeface="Calibri"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1F26"/>
                          </a:solidFill>
                          <a:latin typeface="Calibri" pitchFamily="34" charset="0"/>
                          <a:ea typeface="Calibri" pitchFamily="34" charset="-122"/>
                          <a:cs typeface="Calibri" pitchFamily="34" charset="-120"/>
                        </a:rPr>
                        <a:t>Hundreds</a:t>
                      </a:r>
                      <a:endParaRPr lang="en-US" sz="1250" dirty="0">
                        <a:latin typeface="Calibri" charset="0"/>
                        <a:ea typeface="Calibri" charset="0"/>
                        <a:cs typeface="Calibri"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1F26"/>
                          </a:solidFill>
                          <a:latin typeface="Calibri" pitchFamily="34" charset="0"/>
                          <a:ea typeface="Calibri" pitchFamily="34" charset="-122"/>
                          <a:cs typeface="Calibri" pitchFamily="34" charset="-120"/>
                        </a:rPr>
                        <a:t>293 short-let / 3,600 long-let</a:t>
                      </a:r>
                      <a:endParaRPr lang="en-US" sz="1250" dirty="0">
                        <a:latin typeface="Calibri" charset="0"/>
                        <a:ea typeface="Calibri" charset="0"/>
                        <a:cs typeface="Calibri"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685800">
                <a:tc>
                  <a:txBody>
                    <a:bodyPr/>
                    <a:lstStyle/>
                    <a:p>
                      <a:pPr algn="l" indent="0" marL="0">
                        <a:buNone/>
                      </a:pPr>
                      <a:r>
                        <a:rPr lang="en-US" sz="1250" b="1" dirty="0">
                          <a:solidFill>
                            <a:srgbClr val="1B1F26"/>
                          </a:solidFill>
                          <a:latin typeface="Calibri" pitchFamily="34" charset="0"/>
                          <a:ea typeface="Calibri" pitchFamily="34" charset="-122"/>
                          <a:cs typeface="Calibri" pitchFamily="34" charset="-120"/>
                        </a:rPr>
                        <a:t>Contact info</a:t>
                      </a:r>
                      <a:endParaRPr lang="en-US" sz="1250" dirty="0">
                        <a:latin typeface="Calibri" charset="0"/>
                        <a:ea typeface="Calibri" charset="0"/>
                        <a:cs typeface="Calibri"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4F7F8"/>
                    </a:solidFill>
                  </a:tcPr>
                </a:tc>
                <a:tc>
                  <a:txBody>
                    <a:bodyPr/>
                    <a:lstStyle/>
                    <a:p>
                      <a:pPr algn="ctr" indent="0" marL="0">
                        <a:buNone/>
                      </a:pPr>
                      <a:r>
                        <a:rPr lang="en-US" sz="1250" dirty="0">
                          <a:solidFill>
                            <a:srgbClr val="1B1F26"/>
                          </a:solidFill>
                          <a:latin typeface="Calibri" pitchFamily="34" charset="0"/>
                          <a:ea typeface="Calibri" pitchFamily="34" charset="-122"/>
                          <a:cs typeface="Calibri" pitchFamily="34" charset="-120"/>
                        </a:rPr>
                        <a:t>Address &amp; license only</a:t>
                      </a:r>
                      <a:endParaRPr lang="en-US" sz="1250" dirty="0">
                        <a:latin typeface="Calibri" charset="0"/>
                        <a:ea typeface="Calibri" charset="0"/>
                        <a:cs typeface="Calibri"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4F7F8"/>
                    </a:solidFill>
                  </a:tcPr>
                </a:tc>
                <a:tc>
                  <a:txBody>
                    <a:bodyPr/>
                    <a:lstStyle/>
                    <a:p>
                      <a:pPr algn="ctr" indent="0" marL="0">
                        <a:buNone/>
                      </a:pPr>
                      <a:r>
                        <a:rPr lang="en-US" sz="1250" dirty="0">
                          <a:solidFill>
                            <a:srgbClr val="1B1F26"/>
                          </a:solidFill>
                          <a:latin typeface="Calibri" pitchFamily="34" charset="0"/>
                          <a:ea typeface="Calibri" pitchFamily="34" charset="-122"/>
                          <a:cs typeface="Calibri" pitchFamily="34" charset="-120"/>
                        </a:rPr>
                        <a:t>Open — name, email, phone</a:t>
                      </a:r>
                      <a:endParaRPr lang="en-US" sz="1250" dirty="0">
                        <a:latin typeface="Calibri" charset="0"/>
                        <a:ea typeface="Calibri" charset="0"/>
                        <a:cs typeface="Calibri"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4F7F8"/>
                    </a:solidFill>
                  </a:tcPr>
                </a:tc>
                <a:tc>
                  <a:txBody>
                    <a:bodyPr/>
                    <a:lstStyle/>
                    <a:p>
                      <a:pPr algn="ctr" indent="0" marL="0">
                        <a:buNone/>
                      </a:pPr>
                      <a:r>
                        <a:rPr lang="en-US" sz="1250" dirty="0">
                          <a:solidFill>
                            <a:srgbClr val="1B1F26"/>
                          </a:solidFill>
                          <a:latin typeface="Calibri" pitchFamily="34" charset="0"/>
                          <a:ea typeface="Calibri" pitchFamily="34" charset="-122"/>
                          <a:cs typeface="Calibri" pitchFamily="34" charset="-120"/>
                        </a:rPr>
                        <a:t>Gated — login required</a:t>
                      </a:r>
                      <a:endParaRPr lang="en-US" sz="1250" dirty="0">
                        <a:latin typeface="Calibri" charset="0"/>
                        <a:ea typeface="Calibri" charset="0"/>
                        <a:cs typeface="Calibri"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4F7F8"/>
                    </a:solidFill>
                  </a:tcPr>
                </a:tc>
              </a:tr>
              <a:tr h="685800">
                <a:tc>
                  <a:txBody>
                    <a:bodyPr/>
                    <a:lstStyle/>
                    <a:p>
                      <a:pPr algn="l" indent="0" marL="0">
                        <a:buNone/>
                      </a:pPr>
                      <a:r>
                        <a:rPr lang="en-US" sz="1250" b="1" dirty="0">
                          <a:solidFill>
                            <a:srgbClr val="1B1F26"/>
                          </a:solidFill>
                          <a:latin typeface="Calibri" pitchFamily="34" charset="0"/>
                          <a:ea typeface="Calibri" pitchFamily="34" charset="-122"/>
                          <a:cs typeface="Calibri" pitchFamily="34" charset="-120"/>
                        </a:rPr>
                        <a:t>Cost</a:t>
                      </a:r>
                      <a:endParaRPr lang="en-US" sz="1250" dirty="0">
                        <a:latin typeface="Calibri" charset="0"/>
                        <a:ea typeface="Calibri" charset="0"/>
                        <a:cs typeface="Calibri"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1F26"/>
                          </a:solidFill>
                          <a:latin typeface="Calibri" pitchFamily="34" charset="0"/>
                          <a:ea typeface="Calibri" pitchFamily="34" charset="-122"/>
                          <a:cs typeface="Calibri" pitchFamily="34" charset="-120"/>
                        </a:rPr>
                        <a:t>Free</a:t>
                      </a:r>
                      <a:endParaRPr lang="en-US" sz="1250" dirty="0">
                        <a:latin typeface="Calibri" charset="0"/>
                        <a:ea typeface="Calibri" charset="0"/>
                        <a:cs typeface="Calibri"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1F26"/>
                          </a:solidFill>
                          <a:latin typeface="Calibri" pitchFamily="34" charset="0"/>
                          <a:ea typeface="Calibri" pitchFamily="34" charset="-122"/>
                          <a:cs typeface="Calibri" pitchFamily="34" charset="-120"/>
                        </a:rPr>
                        <a:t>Free</a:t>
                      </a:r>
                      <a:endParaRPr lang="en-US" sz="1250" dirty="0">
                        <a:latin typeface="Calibri" charset="0"/>
                        <a:ea typeface="Calibri" charset="0"/>
                        <a:cs typeface="Calibri"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1F26"/>
                          </a:solidFill>
                          <a:latin typeface="Calibri" pitchFamily="34" charset="0"/>
                          <a:ea typeface="Calibri" pitchFamily="34" charset="-122"/>
                          <a:cs typeface="Calibri" pitchFamily="34" charset="-120"/>
                        </a:rPr>
                        <a:t>Free account</a:t>
                      </a:r>
                      <a:endParaRPr lang="en-US" sz="1250" dirty="0">
                        <a:latin typeface="Calibri" charset="0"/>
                        <a:ea typeface="Calibri" charset="0"/>
                        <a:cs typeface="Calibri"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685800">
                <a:tc>
                  <a:txBody>
                    <a:bodyPr/>
                    <a:lstStyle/>
                    <a:p>
                      <a:pPr algn="l" indent="0" marL="0">
                        <a:buNone/>
                      </a:pPr>
                      <a:r>
                        <a:rPr lang="en-US" sz="1250" b="1" dirty="0">
                          <a:solidFill>
                            <a:srgbClr val="1B1F26"/>
                          </a:solidFill>
                          <a:latin typeface="Calibri" pitchFamily="34" charset="0"/>
                          <a:ea typeface="Calibri" pitchFamily="34" charset="-122"/>
                          <a:cs typeface="Calibri" pitchFamily="34" charset="-120"/>
                        </a:rPr>
                        <a:t>Speed to outreach</a:t>
                      </a:r>
                      <a:endParaRPr lang="en-US" sz="1250" dirty="0">
                        <a:latin typeface="Calibri" charset="0"/>
                        <a:ea typeface="Calibri" charset="0"/>
                        <a:cs typeface="Calibri"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4F7F8"/>
                    </a:solidFill>
                  </a:tcPr>
                </a:tc>
                <a:tc>
                  <a:txBody>
                    <a:bodyPr/>
                    <a:lstStyle/>
                    <a:p>
                      <a:pPr algn="ctr" indent="0" marL="0">
                        <a:buNone/>
                      </a:pPr>
                      <a:r>
                        <a:rPr lang="en-US" sz="1250" dirty="0">
                          <a:solidFill>
                            <a:srgbClr val="1B1F26"/>
                          </a:solidFill>
                          <a:latin typeface="Calibri" pitchFamily="34" charset="0"/>
                          <a:ea typeface="Calibri" pitchFamily="34" charset="-122"/>
                          <a:cs typeface="Calibri" pitchFamily="34" charset="-120"/>
                        </a:rPr>
                        <a:t>Slow (needs enrichment)</a:t>
                      </a:r>
                      <a:endParaRPr lang="en-US" sz="1250" dirty="0">
                        <a:latin typeface="Calibri" charset="0"/>
                        <a:ea typeface="Calibri" charset="0"/>
                        <a:cs typeface="Calibri"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4F7F8"/>
                    </a:solidFill>
                  </a:tcPr>
                </a:tc>
                <a:tc>
                  <a:txBody>
                    <a:bodyPr/>
                    <a:lstStyle/>
                    <a:p>
                      <a:pPr algn="ctr" indent="0" marL="0">
                        <a:buNone/>
                      </a:pPr>
                      <a:r>
                        <a:rPr lang="en-US" sz="1250" dirty="0">
                          <a:solidFill>
                            <a:srgbClr val="1B1F26"/>
                          </a:solidFill>
                          <a:latin typeface="Calibri" pitchFamily="34" charset="0"/>
                          <a:ea typeface="Calibri" pitchFamily="34" charset="-122"/>
                          <a:cs typeface="Calibri" pitchFamily="34" charset="-120"/>
                        </a:rPr>
                        <a:t>Fast — pilot-ready</a:t>
                      </a:r>
                      <a:endParaRPr lang="en-US" sz="1250" dirty="0">
                        <a:latin typeface="Calibri" charset="0"/>
                        <a:ea typeface="Calibri" charset="0"/>
                        <a:cs typeface="Calibri"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4F7F8"/>
                    </a:solidFill>
                  </a:tcPr>
                </a:tc>
                <a:tc>
                  <a:txBody>
                    <a:bodyPr/>
                    <a:lstStyle/>
                    <a:p>
                      <a:pPr algn="ctr" indent="0" marL="0">
                        <a:buNone/>
                      </a:pPr>
                      <a:r>
                        <a:rPr lang="en-US" sz="1250" dirty="0">
                          <a:solidFill>
                            <a:srgbClr val="1B1F26"/>
                          </a:solidFill>
                          <a:latin typeface="Calibri" pitchFamily="34" charset="0"/>
                          <a:ea typeface="Calibri" pitchFamily="34" charset="-122"/>
                          <a:cs typeface="Calibri" pitchFamily="34" charset="-120"/>
                        </a:rPr>
                        <a:t>Medium</a:t>
                      </a:r>
                      <a:endParaRPr lang="en-US" sz="1250" dirty="0">
                        <a:latin typeface="Calibri" charset="0"/>
                        <a:ea typeface="Calibri" charset="0"/>
                        <a:cs typeface="Calibri"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4F7F8"/>
                    </a:solidFill>
                  </a:tcPr>
                </a:tc>
              </a:tr>
              <a:tr h="685800">
                <a:tc>
                  <a:txBody>
                    <a:bodyPr/>
                    <a:lstStyle/>
                    <a:p>
                      <a:pPr algn="l" indent="0" marL="0">
                        <a:buNone/>
                      </a:pPr>
                      <a:r>
                        <a:rPr lang="en-US" sz="1250" b="1" dirty="0">
                          <a:solidFill>
                            <a:srgbClr val="1B1F26"/>
                          </a:solidFill>
                          <a:latin typeface="Calibri" pitchFamily="34" charset="0"/>
                          <a:ea typeface="Calibri" pitchFamily="34" charset="-122"/>
                          <a:cs typeface="Calibri" pitchFamily="34" charset="-120"/>
                        </a:rPr>
                        <a:t>Lead quality</a:t>
                      </a:r>
                      <a:endParaRPr lang="en-US" sz="1250" dirty="0">
                        <a:latin typeface="Calibri" charset="0"/>
                        <a:ea typeface="Calibri" charset="0"/>
                        <a:cs typeface="Calibri"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1F26"/>
                          </a:solidFill>
                          <a:latin typeface="Calibri" pitchFamily="34" charset="0"/>
                          <a:ea typeface="Calibri" pitchFamily="34" charset="-122"/>
                          <a:cs typeface="Calibri" pitchFamily="34" charset="-120"/>
                        </a:rPr>
                        <a:t>High — already licensed</a:t>
                      </a:r>
                      <a:endParaRPr lang="en-US" sz="1250" dirty="0">
                        <a:latin typeface="Calibri" charset="0"/>
                        <a:ea typeface="Calibri" charset="0"/>
                        <a:cs typeface="Calibri"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1F26"/>
                          </a:solidFill>
                          <a:latin typeface="Calibri" pitchFamily="34" charset="0"/>
                          <a:ea typeface="Calibri" pitchFamily="34" charset="-122"/>
                          <a:cs typeface="Calibri" pitchFamily="34" charset="-120"/>
                        </a:rPr>
                        <a:t>Medium — self-managing</a:t>
                      </a:r>
                      <a:endParaRPr lang="en-US" sz="1250" dirty="0">
                        <a:latin typeface="Calibri" charset="0"/>
                        <a:ea typeface="Calibri" charset="0"/>
                        <a:cs typeface="Calibri"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1F26"/>
                          </a:solidFill>
                          <a:latin typeface="Calibri" pitchFamily="34" charset="0"/>
                          <a:ea typeface="Calibri" pitchFamily="34" charset="-122"/>
                          <a:cs typeface="Calibri" pitchFamily="34" charset="-120"/>
                        </a:rPr>
                        <a:t>High — tagged owner</a:t>
                      </a:r>
                      <a:endParaRPr lang="en-US" sz="1250" dirty="0">
                        <a:latin typeface="Calibri" charset="0"/>
                        <a:ea typeface="Calibri" charset="0"/>
                        <a:cs typeface="Calibri"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bl>
          </a:graphicData>
        </a:graphic>
      </p:graphicFrame>
      <p:sp>
        <p:nvSpPr>
          <p:cNvPr id="4" name="Text 1"/>
          <p:cNvSpPr/>
          <p:nvPr/>
        </p:nvSpPr>
        <p:spPr>
          <a:xfrm>
            <a:off x="457200" y="6519672"/>
            <a:ext cx="7315200" cy="274320"/>
          </a:xfrm>
          <a:prstGeom prst="rect">
            <a:avLst/>
          </a:prstGeom>
          <a:noFill/>
          <a:ln/>
        </p:spPr>
        <p:txBody>
          <a:bodyPr wrap="square" rtlCol="0" anchor="ctr"/>
          <a:lstStyle/>
          <a:p>
            <a:pPr indent="0" marL="0">
              <a:buNone/>
            </a:pPr>
            <a:r>
              <a:rPr lang="en-US" sz="900" dirty="0">
                <a:solidFill>
                  <a:srgbClr val="5C6B73"/>
                </a:solidFill>
                <a:latin typeface="Calibri" pitchFamily="34" charset="0"/>
                <a:ea typeface="Calibri" pitchFamily="34" charset="-122"/>
                <a:cs typeface="Calibri" pitchFamily="34" charset="-120"/>
              </a:rPr>
              <a:t>Slide 8</a:t>
            </a:r>
            <a:endParaRPr lang="en-US" sz="900" dirty="0"/>
          </a:p>
        </p:txBody>
      </p:sp>
      <p:sp>
        <p:nvSpPr>
          <p:cNvPr id="5" name="Text 2"/>
          <p:cNvSpPr/>
          <p:nvPr/>
        </p:nvSpPr>
        <p:spPr>
          <a:xfrm>
            <a:off x="7772400" y="6519672"/>
            <a:ext cx="3931920" cy="274320"/>
          </a:xfrm>
          <a:prstGeom prst="rect">
            <a:avLst/>
          </a:prstGeom>
          <a:noFill/>
          <a:ln/>
        </p:spPr>
        <p:txBody>
          <a:bodyPr wrap="square" rtlCol="0" anchor="ctr"/>
          <a:lstStyle/>
          <a:p>
            <a:pPr algn="r" indent="0" marL="0">
              <a:buNone/>
            </a:pPr>
            <a:r>
              <a:rPr lang="en-US" sz="900" dirty="0">
                <a:solidFill>
                  <a:srgbClr val="5C6B73"/>
                </a:solidFill>
                <a:latin typeface="Calibri" pitchFamily="34" charset="0"/>
                <a:ea typeface="Calibri" pitchFamily="34" charset="-122"/>
                <a:cs typeface="Calibri" pitchFamily="34" charset="-120"/>
              </a:rPr>
              <a:t>Malta Property Owner Data — Research Summary</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92640" y="4754880"/>
            <a:ext cx="3657600" cy="3657600"/>
          </a:xfrm>
          <a:prstGeom prst="ellipse">
            <a:avLst/>
          </a:prstGeom>
          <a:solidFill>
            <a:srgbClr val="065A82">
              <a:alpha val="45000"/>
            </a:srgbClr>
          </a:solidFill>
          <a:ln/>
        </p:spPr>
      </p:sp>
      <p:sp>
        <p:nvSpPr>
          <p:cNvPr id="3" name="Text 1"/>
          <p:cNvSpPr txBox="1"/>
          <p:nvPr/>
        </p:nvSpPr>
        <p:spPr>
          <a:xfrm>
            <a:off x="548640" y="457200"/>
            <a:ext cx="91440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Recommended Plan</a:t>
            </a:r>
            <a:endParaRPr lang="en-US" sz="3000" dirty="0"/>
          </a:p>
        </p:txBody>
      </p:sp>
      <p:sp>
        <p:nvSpPr>
          <p:cNvPr id="4" name="Text 2"/>
          <p:cNvSpPr txBox="1"/>
          <p:nvPr/>
        </p:nvSpPr>
        <p:spPr>
          <a:xfrm>
            <a:off x="548640" y="1051560"/>
            <a:ext cx="9144000" cy="36576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Pilot before scaling — validate messaging on a small batch first</a:t>
            </a:r>
            <a:endParaRPr lang="en-US" sz="1400" dirty="0"/>
          </a:p>
        </p:txBody>
      </p:sp>
      <p:sp>
        <p:nvSpPr>
          <p:cNvPr id="5" name="Shape 3"/>
          <p:cNvSpPr/>
          <p:nvPr/>
        </p:nvSpPr>
        <p:spPr>
          <a:xfrm>
            <a:off x="548640" y="1965960"/>
            <a:ext cx="2697480" cy="4114800"/>
          </a:xfrm>
          <a:prstGeom prst="roundRect">
            <a:avLst>
              <a:gd name="adj" fmla="val 3390"/>
            </a:avLst>
          </a:prstGeom>
          <a:solidFill>
            <a:srgbClr val="FFFFFF">
              <a:alpha val="8000"/>
            </a:srgbClr>
          </a:solidFill>
          <a:ln w="12700">
            <a:solidFill>
              <a:srgbClr val="3F4E86"/>
            </a:solidFill>
            <a:prstDash val="solid"/>
          </a:ln>
        </p:spPr>
      </p:sp>
      <p:sp>
        <p:nvSpPr>
          <p:cNvPr id="6" name="Shape 4"/>
          <p:cNvSpPr/>
          <p:nvPr/>
        </p:nvSpPr>
        <p:spPr>
          <a:xfrm>
            <a:off x="777240" y="2194560"/>
            <a:ext cx="548640" cy="548640"/>
          </a:xfrm>
          <a:prstGeom prst="ellipse">
            <a:avLst/>
          </a:prstGeom>
          <a:solidFill>
            <a:srgbClr val="E8A33D"/>
          </a:solidFill>
          <a:ln/>
        </p:spPr>
      </p:sp>
      <p:sp>
        <p:nvSpPr>
          <p:cNvPr id="7" name="Text 5"/>
          <p:cNvSpPr txBox="1"/>
          <p:nvPr/>
        </p:nvSpPr>
        <p:spPr>
          <a:xfrm>
            <a:off x="777240" y="2194560"/>
            <a:ext cx="548640" cy="548640"/>
          </a:xfrm>
          <a:prstGeom prst="rect">
            <a:avLst/>
          </a:prstGeom>
          <a:noFill/>
          <a:ln/>
        </p:spPr>
        <p:txBody>
          <a:bodyPr wrap="square" lIns="0" tIns="0" rIns="0" bIns="0" rtlCol="0" anchor="ctr"/>
          <a:lstStyle/>
          <a:p>
            <a:pPr algn="ctr" indent="0" marL="0">
              <a:buNone/>
            </a:pPr>
            <a:r>
              <a:rPr lang="en-US" sz="2200" b="1" dirty="0">
                <a:solidFill>
                  <a:srgbClr val="21295C"/>
                </a:solidFill>
                <a:latin typeface="Cambria" pitchFamily="34" charset="0"/>
                <a:ea typeface="Cambria" pitchFamily="34" charset="-122"/>
                <a:cs typeface="Cambria" pitchFamily="34" charset="-120"/>
              </a:rPr>
              <a:t>1</a:t>
            </a:r>
            <a:endParaRPr lang="en-US" sz="2200" dirty="0"/>
          </a:p>
        </p:txBody>
      </p:sp>
      <p:sp>
        <p:nvSpPr>
          <p:cNvPr id="8" name="Text 6"/>
          <p:cNvSpPr txBox="1"/>
          <p:nvPr/>
        </p:nvSpPr>
        <p:spPr>
          <a:xfrm>
            <a:off x="777240" y="2926080"/>
            <a:ext cx="2240280" cy="6858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Pilot batch</a:t>
            </a:r>
            <a:endParaRPr lang="en-US" sz="1500" dirty="0"/>
          </a:p>
        </p:txBody>
      </p:sp>
      <p:sp>
        <p:nvSpPr>
          <p:cNvPr id="9" name="Text 7"/>
          <p:cNvSpPr txBox="1"/>
          <p:nvPr/>
        </p:nvSpPr>
        <p:spPr>
          <a:xfrm>
            <a:off x="777240" y="3611880"/>
            <a:ext cx="2240280" cy="2331720"/>
          </a:xfrm>
          <a:prstGeom prst="rect">
            <a:avLst/>
          </a:prstGeom>
          <a:noFill/>
          <a:ln/>
        </p:spPr>
        <p:txBody>
          <a:bodyPr wrap="square" lIns="0" tIns="0" rIns="0" bIns="0" rtlCol="0" anchor="ctr"/>
          <a:lstStyle/>
          <a:p>
            <a:pPr indent="0" marL="0">
              <a:lnSpc>
                <a:spcPct val="120000"/>
              </a:lnSpc>
              <a:buNone/>
            </a:pPr>
            <a:r>
              <a:rPr lang="en-US" sz="1150" dirty="0">
                <a:solidFill>
                  <a:srgbClr val="D9E6F2"/>
                </a:solidFill>
                <a:latin typeface="Calibri" pitchFamily="34" charset="0"/>
                <a:ea typeface="Calibri" pitchFamily="34" charset="-122"/>
                <a:cs typeface="Calibri" pitchFamily="34" charset="-120"/>
              </a:rPr>
              <a:t>Pull 30–50 contacts from Direct-From-Owner style sites — fastest path to real names, emails &amp; phone numbers.</a:t>
            </a:r>
            <a:endParaRPr lang="en-US" sz="1150" dirty="0"/>
          </a:p>
        </p:txBody>
      </p:sp>
      <p:sp>
        <p:nvSpPr>
          <p:cNvPr id="10" name="Shape 8"/>
          <p:cNvSpPr/>
          <p:nvPr/>
        </p:nvSpPr>
        <p:spPr>
          <a:xfrm>
            <a:off x="3429000" y="1965960"/>
            <a:ext cx="2697480" cy="4114800"/>
          </a:xfrm>
          <a:prstGeom prst="roundRect">
            <a:avLst>
              <a:gd name="adj" fmla="val 3390"/>
            </a:avLst>
          </a:prstGeom>
          <a:solidFill>
            <a:srgbClr val="FFFFFF">
              <a:alpha val="8000"/>
            </a:srgbClr>
          </a:solidFill>
          <a:ln w="12700">
            <a:solidFill>
              <a:srgbClr val="3F4E86"/>
            </a:solidFill>
            <a:prstDash val="solid"/>
          </a:ln>
        </p:spPr>
      </p:sp>
      <p:sp>
        <p:nvSpPr>
          <p:cNvPr id="11" name="Shape 9"/>
          <p:cNvSpPr/>
          <p:nvPr/>
        </p:nvSpPr>
        <p:spPr>
          <a:xfrm>
            <a:off x="3657600" y="2194560"/>
            <a:ext cx="548640" cy="548640"/>
          </a:xfrm>
          <a:prstGeom prst="ellipse">
            <a:avLst/>
          </a:prstGeom>
          <a:solidFill>
            <a:srgbClr val="E8A33D"/>
          </a:solidFill>
          <a:ln/>
        </p:spPr>
      </p:sp>
      <p:sp>
        <p:nvSpPr>
          <p:cNvPr id="12" name="Text 10"/>
          <p:cNvSpPr txBox="1"/>
          <p:nvPr/>
        </p:nvSpPr>
        <p:spPr>
          <a:xfrm>
            <a:off x="3657600" y="2194560"/>
            <a:ext cx="548640" cy="548640"/>
          </a:xfrm>
          <a:prstGeom prst="rect">
            <a:avLst/>
          </a:prstGeom>
          <a:noFill/>
          <a:ln/>
        </p:spPr>
        <p:txBody>
          <a:bodyPr wrap="square" lIns="0" tIns="0" rIns="0" bIns="0" rtlCol="0" anchor="ctr"/>
          <a:lstStyle/>
          <a:p>
            <a:pPr algn="ctr" indent="0" marL="0">
              <a:buNone/>
            </a:pPr>
            <a:r>
              <a:rPr lang="en-US" sz="2200" b="1" dirty="0">
                <a:solidFill>
                  <a:srgbClr val="21295C"/>
                </a:solidFill>
                <a:latin typeface="Cambria" pitchFamily="34" charset="0"/>
                <a:ea typeface="Cambria" pitchFamily="34" charset="-122"/>
                <a:cs typeface="Cambria" pitchFamily="34" charset="-120"/>
              </a:rPr>
              <a:t>2</a:t>
            </a:r>
            <a:endParaRPr lang="en-US" sz="2200" dirty="0"/>
          </a:p>
        </p:txBody>
      </p:sp>
      <p:sp>
        <p:nvSpPr>
          <p:cNvPr id="13" name="Text 11"/>
          <p:cNvSpPr txBox="1"/>
          <p:nvPr/>
        </p:nvSpPr>
        <p:spPr>
          <a:xfrm>
            <a:off x="3657600" y="2926080"/>
            <a:ext cx="2240280" cy="6858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Test outreach</a:t>
            </a:r>
            <a:endParaRPr lang="en-US" sz="1500" dirty="0"/>
          </a:p>
        </p:txBody>
      </p:sp>
      <p:sp>
        <p:nvSpPr>
          <p:cNvPr id="14" name="Text 12"/>
          <p:cNvSpPr txBox="1"/>
          <p:nvPr/>
        </p:nvSpPr>
        <p:spPr>
          <a:xfrm>
            <a:off x="3657600" y="3611880"/>
            <a:ext cx="2240280" cy="2331720"/>
          </a:xfrm>
          <a:prstGeom prst="rect">
            <a:avLst/>
          </a:prstGeom>
          <a:noFill/>
          <a:ln/>
        </p:spPr>
        <p:txBody>
          <a:bodyPr wrap="square" lIns="0" tIns="0" rIns="0" bIns="0" rtlCol="0" anchor="ctr"/>
          <a:lstStyle/>
          <a:p>
            <a:pPr indent="0" marL="0">
              <a:lnSpc>
                <a:spcPct val="120000"/>
              </a:lnSpc>
              <a:buNone/>
            </a:pPr>
            <a:r>
              <a:rPr lang="en-US" sz="1150" dirty="0">
                <a:solidFill>
                  <a:srgbClr val="D9E6F2"/>
                </a:solidFill>
                <a:latin typeface="Calibri" pitchFamily="34" charset="0"/>
                <a:ea typeface="Calibri" pitchFamily="34" charset="-122"/>
                <a:cs typeface="Calibri" pitchFamily="34" charset="-120"/>
              </a:rPr>
              <a:t>Send a small, personal outreach round. Track response rate before investing in a full scraper build.</a:t>
            </a:r>
            <a:endParaRPr lang="en-US" sz="1150" dirty="0"/>
          </a:p>
        </p:txBody>
      </p:sp>
      <p:sp>
        <p:nvSpPr>
          <p:cNvPr id="15" name="Shape 13"/>
          <p:cNvSpPr/>
          <p:nvPr/>
        </p:nvSpPr>
        <p:spPr>
          <a:xfrm>
            <a:off x="6309360" y="1965960"/>
            <a:ext cx="2697480" cy="4114800"/>
          </a:xfrm>
          <a:prstGeom prst="roundRect">
            <a:avLst>
              <a:gd name="adj" fmla="val 3390"/>
            </a:avLst>
          </a:prstGeom>
          <a:solidFill>
            <a:srgbClr val="FFFFFF">
              <a:alpha val="8000"/>
            </a:srgbClr>
          </a:solidFill>
          <a:ln w="12700">
            <a:solidFill>
              <a:srgbClr val="3F4E86"/>
            </a:solidFill>
            <a:prstDash val="solid"/>
          </a:ln>
        </p:spPr>
      </p:sp>
      <p:sp>
        <p:nvSpPr>
          <p:cNvPr id="16" name="Shape 14"/>
          <p:cNvSpPr/>
          <p:nvPr/>
        </p:nvSpPr>
        <p:spPr>
          <a:xfrm>
            <a:off x="6537960" y="2194560"/>
            <a:ext cx="548640" cy="548640"/>
          </a:xfrm>
          <a:prstGeom prst="ellipse">
            <a:avLst/>
          </a:prstGeom>
          <a:solidFill>
            <a:srgbClr val="E8A33D"/>
          </a:solidFill>
          <a:ln/>
        </p:spPr>
      </p:sp>
      <p:sp>
        <p:nvSpPr>
          <p:cNvPr id="17" name="Text 15"/>
          <p:cNvSpPr txBox="1"/>
          <p:nvPr/>
        </p:nvSpPr>
        <p:spPr>
          <a:xfrm>
            <a:off x="6537960" y="2194560"/>
            <a:ext cx="548640" cy="548640"/>
          </a:xfrm>
          <a:prstGeom prst="rect">
            <a:avLst/>
          </a:prstGeom>
          <a:noFill/>
          <a:ln/>
        </p:spPr>
        <p:txBody>
          <a:bodyPr wrap="square" lIns="0" tIns="0" rIns="0" bIns="0" rtlCol="0" anchor="ctr"/>
          <a:lstStyle/>
          <a:p>
            <a:pPr algn="ctr" indent="0" marL="0">
              <a:buNone/>
            </a:pPr>
            <a:r>
              <a:rPr lang="en-US" sz="2200" b="1" dirty="0">
                <a:solidFill>
                  <a:srgbClr val="21295C"/>
                </a:solidFill>
                <a:latin typeface="Cambria" pitchFamily="34" charset="0"/>
                <a:ea typeface="Cambria" pitchFamily="34" charset="-122"/>
                <a:cs typeface="Cambria" pitchFamily="34" charset="-120"/>
              </a:rPr>
              <a:t>3</a:t>
            </a:r>
            <a:endParaRPr lang="en-US" sz="2200" dirty="0"/>
          </a:p>
        </p:txBody>
      </p:sp>
      <p:sp>
        <p:nvSpPr>
          <p:cNvPr id="18" name="Text 16"/>
          <p:cNvSpPr txBox="1"/>
          <p:nvPr/>
        </p:nvSpPr>
        <p:spPr>
          <a:xfrm>
            <a:off x="6537960" y="2926080"/>
            <a:ext cx="2240280" cy="6858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Scale with MTA + Maltapark</a:t>
            </a:r>
            <a:endParaRPr lang="en-US" sz="1500" dirty="0"/>
          </a:p>
        </p:txBody>
      </p:sp>
      <p:sp>
        <p:nvSpPr>
          <p:cNvPr id="19" name="Text 17"/>
          <p:cNvSpPr txBox="1"/>
          <p:nvPr/>
        </p:nvSpPr>
        <p:spPr>
          <a:xfrm>
            <a:off x="6537960" y="3611880"/>
            <a:ext cx="2240280" cy="2331720"/>
          </a:xfrm>
          <a:prstGeom prst="rect">
            <a:avLst/>
          </a:prstGeom>
          <a:noFill/>
          <a:ln/>
        </p:spPr>
        <p:txBody>
          <a:bodyPr wrap="square" lIns="0" tIns="0" rIns="0" bIns="0" rtlCol="0" anchor="ctr"/>
          <a:lstStyle/>
          <a:p>
            <a:pPr indent="0" marL="0">
              <a:lnSpc>
                <a:spcPct val="120000"/>
              </a:lnSpc>
              <a:buNone/>
            </a:pPr>
            <a:r>
              <a:rPr lang="en-US" sz="1150" dirty="0">
                <a:solidFill>
                  <a:srgbClr val="D9E6F2"/>
                </a:solidFill>
                <a:latin typeface="Calibri" pitchFamily="34" charset="0"/>
                <a:ea typeface="Calibri" pitchFamily="34" charset="-122"/>
                <a:cs typeface="Calibri" pitchFamily="34" charset="-120"/>
              </a:rPr>
              <a:t>Once messaging is validated, scrape the MTA short-let register for volume and cross-reference against Maltapark's tagged owner listings.</a:t>
            </a:r>
            <a:endParaRPr lang="en-US" sz="1150" dirty="0"/>
          </a:p>
        </p:txBody>
      </p:sp>
      <p:sp>
        <p:nvSpPr>
          <p:cNvPr id="20" name="Shape 18"/>
          <p:cNvSpPr/>
          <p:nvPr/>
        </p:nvSpPr>
        <p:spPr>
          <a:xfrm>
            <a:off x="9189720" y="1965960"/>
            <a:ext cx="2697480" cy="4114800"/>
          </a:xfrm>
          <a:prstGeom prst="roundRect">
            <a:avLst>
              <a:gd name="adj" fmla="val 3390"/>
            </a:avLst>
          </a:prstGeom>
          <a:solidFill>
            <a:srgbClr val="FFFFFF">
              <a:alpha val="8000"/>
            </a:srgbClr>
          </a:solidFill>
          <a:ln w="12700">
            <a:solidFill>
              <a:srgbClr val="3F4E86"/>
            </a:solidFill>
            <a:prstDash val="solid"/>
          </a:ln>
        </p:spPr>
      </p:sp>
      <p:sp>
        <p:nvSpPr>
          <p:cNvPr id="21" name="Shape 19"/>
          <p:cNvSpPr/>
          <p:nvPr/>
        </p:nvSpPr>
        <p:spPr>
          <a:xfrm>
            <a:off x="9418320" y="2194560"/>
            <a:ext cx="548640" cy="548640"/>
          </a:xfrm>
          <a:prstGeom prst="ellipse">
            <a:avLst/>
          </a:prstGeom>
          <a:solidFill>
            <a:srgbClr val="E8A33D"/>
          </a:solidFill>
          <a:ln/>
        </p:spPr>
      </p:sp>
      <p:sp>
        <p:nvSpPr>
          <p:cNvPr id="22" name="Text 20"/>
          <p:cNvSpPr txBox="1"/>
          <p:nvPr/>
        </p:nvSpPr>
        <p:spPr>
          <a:xfrm>
            <a:off x="9418320" y="2194560"/>
            <a:ext cx="548640" cy="548640"/>
          </a:xfrm>
          <a:prstGeom prst="rect">
            <a:avLst/>
          </a:prstGeom>
          <a:noFill/>
          <a:ln/>
        </p:spPr>
        <p:txBody>
          <a:bodyPr wrap="square" lIns="0" tIns="0" rIns="0" bIns="0" rtlCol="0" anchor="ctr"/>
          <a:lstStyle/>
          <a:p>
            <a:pPr algn="ctr" indent="0" marL="0">
              <a:buNone/>
            </a:pPr>
            <a:r>
              <a:rPr lang="en-US" sz="2200" b="1" dirty="0">
                <a:solidFill>
                  <a:srgbClr val="21295C"/>
                </a:solidFill>
                <a:latin typeface="Cambria" pitchFamily="34" charset="0"/>
                <a:ea typeface="Cambria" pitchFamily="34" charset="-122"/>
                <a:cs typeface="Cambria" pitchFamily="34" charset="-120"/>
              </a:rPr>
              <a:t>4</a:t>
            </a:r>
            <a:endParaRPr lang="en-US" sz="2200" dirty="0"/>
          </a:p>
        </p:txBody>
      </p:sp>
      <p:sp>
        <p:nvSpPr>
          <p:cNvPr id="23" name="Text 21"/>
          <p:cNvSpPr txBox="1"/>
          <p:nvPr/>
        </p:nvSpPr>
        <p:spPr>
          <a:xfrm>
            <a:off x="9418320" y="2926080"/>
            <a:ext cx="2240280" cy="6858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Respect platform terms</a:t>
            </a:r>
            <a:endParaRPr lang="en-US" sz="1500" dirty="0"/>
          </a:p>
        </p:txBody>
      </p:sp>
      <p:sp>
        <p:nvSpPr>
          <p:cNvPr id="24" name="Text 22"/>
          <p:cNvSpPr txBox="1"/>
          <p:nvPr/>
        </p:nvSpPr>
        <p:spPr>
          <a:xfrm>
            <a:off x="9418320" y="3611880"/>
            <a:ext cx="2240280" cy="2331720"/>
          </a:xfrm>
          <a:prstGeom prst="rect">
            <a:avLst/>
          </a:prstGeom>
          <a:noFill/>
          <a:ln/>
        </p:spPr>
        <p:txBody>
          <a:bodyPr wrap="square" lIns="0" tIns="0" rIns="0" bIns="0" rtlCol="0" anchor="ctr"/>
          <a:lstStyle/>
          <a:p>
            <a:pPr indent="0" marL="0">
              <a:lnSpc>
                <a:spcPct val="120000"/>
              </a:lnSpc>
              <a:buNone/>
            </a:pPr>
            <a:r>
              <a:rPr lang="en-US" sz="1150" dirty="0">
                <a:solidFill>
                  <a:srgbClr val="D9E6F2"/>
                </a:solidFill>
                <a:latin typeface="Calibri" pitchFamily="34" charset="0"/>
                <a:ea typeface="Calibri" pitchFamily="34" charset="-122"/>
                <a:cs typeface="Calibri" pitchFamily="34" charset="-120"/>
              </a:rPr>
              <a:t>Keep Maltapark contact-reveal manual/account-based rather than automated at bulk — protects the business long-term.</a:t>
            </a:r>
            <a:endParaRPr lang="en-US" sz="1150" dirty="0"/>
          </a:p>
        </p:txBody>
      </p:sp>
      <p:sp>
        <p:nvSpPr>
          <p:cNvPr id="25" name="Text 23"/>
          <p:cNvSpPr/>
          <p:nvPr/>
        </p:nvSpPr>
        <p:spPr>
          <a:xfrm>
            <a:off x="457200" y="6519672"/>
            <a:ext cx="7315200" cy="274320"/>
          </a:xfrm>
          <a:prstGeom prst="rect">
            <a:avLst/>
          </a:prstGeom>
          <a:noFill/>
          <a:ln/>
        </p:spPr>
        <p:txBody>
          <a:bodyPr wrap="square" rtlCol="0" anchor="ctr"/>
          <a:lstStyle/>
          <a:p>
            <a:pPr indent="0" marL="0">
              <a:buNone/>
            </a:pPr>
            <a:r>
              <a:rPr lang="en-US" sz="900" dirty="0">
                <a:solidFill>
                  <a:srgbClr val="5C6B73"/>
                </a:solidFill>
                <a:latin typeface="Calibri" pitchFamily="34" charset="0"/>
                <a:ea typeface="Calibri" pitchFamily="34" charset="-122"/>
                <a:cs typeface="Calibri" pitchFamily="34" charset="-120"/>
              </a:rPr>
              <a:t>Slide 9</a:t>
            </a:r>
            <a:endParaRPr lang="en-US" sz="900" dirty="0"/>
          </a:p>
        </p:txBody>
      </p:sp>
      <p:sp>
        <p:nvSpPr>
          <p:cNvPr id="26" name="Text 24"/>
          <p:cNvSpPr/>
          <p:nvPr/>
        </p:nvSpPr>
        <p:spPr>
          <a:xfrm>
            <a:off x="7772400" y="6519672"/>
            <a:ext cx="3931920" cy="274320"/>
          </a:xfrm>
          <a:prstGeom prst="rect">
            <a:avLst/>
          </a:prstGeom>
          <a:noFill/>
          <a:ln/>
        </p:spPr>
        <p:txBody>
          <a:bodyPr wrap="square" rtlCol="0" anchor="ctr"/>
          <a:lstStyle/>
          <a:p>
            <a:pPr algn="r" indent="0" marL="0">
              <a:buNone/>
            </a:pPr>
            <a:r>
              <a:rPr lang="en-US" sz="900" dirty="0">
                <a:solidFill>
                  <a:srgbClr val="5C6B73"/>
                </a:solidFill>
                <a:latin typeface="Calibri" pitchFamily="34" charset="0"/>
                <a:ea typeface="Calibri" pitchFamily="34" charset="-122"/>
                <a:cs typeface="Calibri" pitchFamily="34" charset="-120"/>
              </a:rPr>
              <a:t>Malta Property Owner Data — Research Summary</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57200"/>
            <a:ext cx="914400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Resources &amp; Links</a:t>
            </a:r>
            <a:endParaRPr lang="en-US" sz="3000" dirty="0"/>
          </a:p>
        </p:txBody>
      </p:sp>
      <p:sp>
        <p:nvSpPr>
          <p:cNvPr id="3" name="Shape 1"/>
          <p:cNvSpPr/>
          <p:nvPr/>
        </p:nvSpPr>
        <p:spPr>
          <a:xfrm>
            <a:off x="548640" y="1417320"/>
            <a:ext cx="292608" cy="292608"/>
          </a:xfrm>
          <a:prstGeom prst="ellipse">
            <a:avLst/>
          </a:prstGeom>
          <a:solidFill>
            <a:srgbClr val="065A82"/>
          </a:solidFill>
          <a:ln/>
        </p:spPr>
      </p:sp>
      <p:pic>
        <p:nvPicPr>
          <p:cNvPr id="4" name="Image 0" descr="/home/claude/ppt/white_icon_link.png">    </p:cNvPr>
          <p:cNvPicPr>
            <a:picLocks noChangeAspect="1"/>
          </p:cNvPicPr>
          <p:nvPr/>
        </p:nvPicPr>
        <p:blipFill>
          <a:blip r:embed="rId1"/>
          <a:stretch>
            <a:fillRect/>
          </a:stretch>
        </p:blipFill>
        <p:spPr>
          <a:xfrm>
            <a:off x="621792" y="1490472"/>
            <a:ext cx="146304" cy="146304"/>
          </a:xfrm>
          <a:prstGeom prst="rect">
            <a:avLst/>
          </a:prstGeom>
        </p:spPr>
      </p:pic>
      <p:sp>
        <p:nvSpPr>
          <p:cNvPr id="5" name="Text 2"/>
          <p:cNvSpPr txBox="1"/>
          <p:nvPr/>
        </p:nvSpPr>
        <p:spPr>
          <a:xfrm>
            <a:off x="960120" y="1325880"/>
            <a:ext cx="5120640" cy="320040"/>
          </a:xfrm>
          <a:prstGeom prst="rect">
            <a:avLst/>
          </a:prstGeom>
          <a:noFill/>
          <a:ln/>
        </p:spPr>
        <p:txBody>
          <a:bodyPr wrap="square" lIns="0" tIns="0" rIns="0" bIns="0" rtlCol="0" anchor="ctr"/>
          <a:lstStyle/>
          <a:p>
            <a:pPr indent="0" marL="0">
              <a:buNone/>
            </a:pPr>
            <a:r>
              <a:rPr lang="en-US" sz="1250" b="1" dirty="0">
                <a:solidFill>
                  <a:srgbClr val="1B1F26"/>
                </a:solidFill>
                <a:latin typeface="Calibri" pitchFamily="34" charset="0"/>
                <a:ea typeface="Calibri" pitchFamily="34" charset="-122"/>
                <a:cs typeface="Calibri" pitchFamily="34" charset="-120"/>
              </a:rPr>
              <a:t>MTA Licensed Establishments (Short-Let)</a:t>
            </a:r>
            <a:endParaRPr lang="en-US" sz="1250" dirty="0"/>
          </a:p>
        </p:txBody>
      </p:sp>
      <p:sp>
        <p:nvSpPr>
          <p:cNvPr id="6" name="Text 3">
            <a:hlinkClick r:id="rId2" tooltip=""/>
          </p:cNvPr>
          <p:cNvSpPr txBox="1"/>
          <p:nvPr/>
        </p:nvSpPr>
        <p:spPr>
          <a:xfrm>
            <a:off x="960120" y="1627632"/>
            <a:ext cx="5120640" cy="274320"/>
          </a:xfrm>
          <a:prstGeom prst="rect">
            <a:avLst/>
          </a:prstGeom>
          <a:noFill/>
          <a:ln/>
        </p:spPr>
        <p:txBody>
          <a:bodyPr wrap="square" lIns="0" tIns="0" rIns="0" bIns="0" rtlCol="0" anchor="ctr"/>
          <a:lstStyle/>
          <a:p>
            <a:pPr indent="0" marL="0">
              <a:buNone/>
            </a:pPr>
            <a:r>
              <a:rPr lang="en-US" sz="10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https://mta.com.mt/licences/licences/?type=hfps-malta</a:t>
            </a:r>
            <a:endParaRPr lang="en-US" sz="1050" dirty="0"/>
          </a:p>
        </p:txBody>
      </p:sp>
      <p:sp>
        <p:nvSpPr>
          <p:cNvPr id="7" name="Shape 4"/>
          <p:cNvSpPr/>
          <p:nvPr/>
        </p:nvSpPr>
        <p:spPr>
          <a:xfrm>
            <a:off x="6263640" y="1417320"/>
            <a:ext cx="292608" cy="292608"/>
          </a:xfrm>
          <a:prstGeom prst="ellipse">
            <a:avLst/>
          </a:prstGeom>
          <a:solidFill>
            <a:srgbClr val="065A82"/>
          </a:solidFill>
          <a:ln/>
        </p:spPr>
      </p:sp>
      <p:pic>
        <p:nvPicPr>
          <p:cNvPr id="8" name="Image 1" descr="/home/claude/ppt/white_icon_link.png">    </p:cNvPr>
          <p:cNvPicPr>
            <a:picLocks noChangeAspect="1"/>
          </p:cNvPicPr>
          <p:nvPr/>
        </p:nvPicPr>
        <p:blipFill>
          <a:blip r:embed="rId3"/>
          <a:stretch>
            <a:fillRect/>
          </a:stretch>
        </p:blipFill>
        <p:spPr>
          <a:xfrm>
            <a:off x="6336792" y="1490472"/>
            <a:ext cx="146304" cy="146304"/>
          </a:xfrm>
          <a:prstGeom prst="rect">
            <a:avLst/>
          </a:prstGeom>
        </p:spPr>
      </p:pic>
      <p:sp>
        <p:nvSpPr>
          <p:cNvPr id="9" name="Text 5"/>
          <p:cNvSpPr txBox="1"/>
          <p:nvPr/>
        </p:nvSpPr>
        <p:spPr>
          <a:xfrm>
            <a:off x="6675120" y="1325880"/>
            <a:ext cx="5120640" cy="320040"/>
          </a:xfrm>
          <a:prstGeom prst="rect">
            <a:avLst/>
          </a:prstGeom>
          <a:noFill/>
          <a:ln/>
        </p:spPr>
        <p:txBody>
          <a:bodyPr wrap="square" lIns="0" tIns="0" rIns="0" bIns="0" rtlCol="0" anchor="ctr"/>
          <a:lstStyle/>
          <a:p>
            <a:pPr indent="0" marL="0">
              <a:buNone/>
            </a:pPr>
            <a:r>
              <a:rPr lang="en-US" sz="1250" b="1" dirty="0">
                <a:solidFill>
                  <a:srgbClr val="1B1F26"/>
                </a:solidFill>
                <a:latin typeface="Calibri" pitchFamily="34" charset="0"/>
                <a:ea typeface="Calibri" pitchFamily="34" charset="-122"/>
                <a:cs typeface="Calibri" pitchFamily="34" charset="-120"/>
              </a:rPr>
              <a:t>MTA STR Licence Validator</a:t>
            </a:r>
            <a:endParaRPr lang="en-US" sz="1250" dirty="0"/>
          </a:p>
        </p:txBody>
      </p:sp>
      <p:sp>
        <p:nvSpPr>
          <p:cNvPr id="10" name="Text 6">
            <a:hlinkClick r:id="rId4" tooltip=""/>
          </p:cNvPr>
          <p:cNvSpPr txBox="1"/>
          <p:nvPr/>
        </p:nvSpPr>
        <p:spPr>
          <a:xfrm>
            <a:off x="6675120" y="1627632"/>
            <a:ext cx="5120640" cy="274320"/>
          </a:xfrm>
          <a:prstGeom prst="rect">
            <a:avLst/>
          </a:prstGeom>
          <a:noFill/>
          <a:ln/>
        </p:spPr>
        <p:txBody>
          <a:bodyPr wrap="square" lIns="0" tIns="0" rIns="0" bIns="0" rtlCol="0" anchor="ctr"/>
          <a:lstStyle/>
          <a:p>
            <a:pPr indent="0" marL="0">
              <a:buNone/>
            </a:pPr>
            <a:r>
              <a:rPr lang="en-US" sz="10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https://validator.mta.com.mt</a:t>
            </a:r>
            <a:endParaRPr lang="en-US" sz="1050" dirty="0"/>
          </a:p>
        </p:txBody>
      </p:sp>
      <p:sp>
        <p:nvSpPr>
          <p:cNvPr id="11" name="Shape 7"/>
          <p:cNvSpPr/>
          <p:nvPr/>
        </p:nvSpPr>
        <p:spPr>
          <a:xfrm>
            <a:off x="548640" y="2194560"/>
            <a:ext cx="292608" cy="292608"/>
          </a:xfrm>
          <a:prstGeom prst="ellipse">
            <a:avLst/>
          </a:prstGeom>
          <a:solidFill>
            <a:srgbClr val="065A82"/>
          </a:solidFill>
          <a:ln/>
        </p:spPr>
      </p:sp>
      <p:pic>
        <p:nvPicPr>
          <p:cNvPr id="12" name="Image 2" descr="/home/claude/ppt/white_icon_link.png">    </p:cNvPr>
          <p:cNvPicPr>
            <a:picLocks noChangeAspect="1"/>
          </p:cNvPicPr>
          <p:nvPr/>
        </p:nvPicPr>
        <p:blipFill>
          <a:blip r:embed="rId5"/>
          <a:stretch>
            <a:fillRect/>
          </a:stretch>
        </p:blipFill>
        <p:spPr>
          <a:xfrm>
            <a:off x="621792" y="2267712"/>
            <a:ext cx="146304" cy="146304"/>
          </a:xfrm>
          <a:prstGeom prst="rect">
            <a:avLst/>
          </a:prstGeom>
        </p:spPr>
      </p:pic>
      <p:sp>
        <p:nvSpPr>
          <p:cNvPr id="13" name="Text 8"/>
          <p:cNvSpPr txBox="1"/>
          <p:nvPr/>
        </p:nvSpPr>
        <p:spPr>
          <a:xfrm>
            <a:off x="960120" y="2103120"/>
            <a:ext cx="5120640" cy="320040"/>
          </a:xfrm>
          <a:prstGeom prst="rect">
            <a:avLst/>
          </a:prstGeom>
          <a:noFill/>
          <a:ln/>
        </p:spPr>
        <p:txBody>
          <a:bodyPr wrap="square" lIns="0" tIns="0" rIns="0" bIns="0" rtlCol="0" anchor="ctr"/>
          <a:lstStyle/>
          <a:p>
            <a:pPr indent="0" marL="0">
              <a:buNone/>
            </a:pPr>
            <a:r>
              <a:rPr lang="en-US" sz="1250" b="1" dirty="0">
                <a:solidFill>
                  <a:srgbClr val="1B1F26"/>
                </a:solidFill>
                <a:latin typeface="Calibri" pitchFamily="34" charset="0"/>
                <a:ea typeface="Calibri" pitchFamily="34" charset="-122"/>
                <a:cs typeface="Calibri" pitchFamily="34" charset="-120"/>
              </a:rPr>
              <a:t>Direct From Owner</a:t>
            </a:r>
            <a:endParaRPr lang="en-US" sz="1250" dirty="0"/>
          </a:p>
        </p:txBody>
      </p:sp>
      <p:sp>
        <p:nvSpPr>
          <p:cNvPr id="14" name="Text 9">
            <a:hlinkClick r:id="rId6" tooltip=""/>
          </p:cNvPr>
          <p:cNvSpPr txBox="1"/>
          <p:nvPr/>
        </p:nvSpPr>
        <p:spPr>
          <a:xfrm>
            <a:off x="960120" y="2404872"/>
            <a:ext cx="5120640" cy="274320"/>
          </a:xfrm>
          <a:prstGeom prst="rect">
            <a:avLst/>
          </a:prstGeom>
          <a:noFill/>
          <a:ln/>
        </p:spPr>
        <p:txBody>
          <a:bodyPr wrap="square" lIns="0" tIns="0" rIns="0" bIns="0" rtlCol="0" anchor="ctr"/>
          <a:lstStyle/>
          <a:p>
            <a:pPr indent="0" marL="0">
              <a:buNone/>
            </a:pPr>
            <a:r>
              <a:rPr lang="en-US" sz="10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https://directfromowner.eu/properties-listing/</a:t>
            </a:r>
            <a:endParaRPr lang="en-US" sz="1050" dirty="0"/>
          </a:p>
        </p:txBody>
      </p:sp>
      <p:sp>
        <p:nvSpPr>
          <p:cNvPr id="15" name="Shape 10"/>
          <p:cNvSpPr/>
          <p:nvPr/>
        </p:nvSpPr>
        <p:spPr>
          <a:xfrm>
            <a:off x="6263640" y="2194560"/>
            <a:ext cx="292608" cy="292608"/>
          </a:xfrm>
          <a:prstGeom prst="ellipse">
            <a:avLst/>
          </a:prstGeom>
          <a:solidFill>
            <a:srgbClr val="065A82"/>
          </a:solidFill>
          <a:ln/>
        </p:spPr>
      </p:sp>
      <p:pic>
        <p:nvPicPr>
          <p:cNvPr id="16" name="Image 3" descr="/home/claude/ppt/white_icon_link.png">    </p:cNvPr>
          <p:cNvPicPr>
            <a:picLocks noChangeAspect="1"/>
          </p:cNvPicPr>
          <p:nvPr/>
        </p:nvPicPr>
        <p:blipFill>
          <a:blip r:embed="rId7"/>
          <a:stretch>
            <a:fillRect/>
          </a:stretch>
        </p:blipFill>
        <p:spPr>
          <a:xfrm>
            <a:off x="6336792" y="2267712"/>
            <a:ext cx="146304" cy="146304"/>
          </a:xfrm>
          <a:prstGeom prst="rect">
            <a:avLst/>
          </a:prstGeom>
        </p:spPr>
      </p:pic>
      <p:sp>
        <p:nvSpPr>
          <p:cNvPr id="17" name="Text 11"/>
          <p:cNvSpPr txBox="1"/>
          <p:nvPr/>
        </p:nvSpPr>
        <p:spPr>
          <a:xfrm>
            <a:off x="6675120" y="2103120"/>
            <a:ext cx="5120640" cy="320040"/>
          </a:xfrm>
          <a:prstGeom prst="rect">
            <a:avLst/>
          </a:prstGeom>
          <a:noFill/>
          <a:ln/>
        </p:spPr>
        <p:txBody>
          <a:bodyPr wrap="square" lIns="0" tIns="0" rIns="0" bIns="0" rtlCol="0" anchor="ctr"/>
          <a:lstStyle/>
          <a:p>
            <a:pPr indent="0" marL="0">
              <a:buNone/>
            </a:pPr>
            <a:r>
              <a:rPr lang="en-US" sz="1250" b="1" dirty="0">
                <a:solidFill>
                  <a:srgbClr val="1B1F26"/>
                </a:solidFill>
                <a:latin typeface="Calibri" pitchFamily="34" charset="0"/>
                <a:ea typeface="Calibri" pitchFamily="34" charset="-122"/>
                <a:cs typeface="Calibri" pitchFamily="34" charset="-120"/>
              </a:rPr>
              <a:t>Darscover — For Sale by Owner</a:t>
            </a:r>
            <a:endParaRPr lang="en-US" sz="1250" dirty="0"/>
          </a:p>
        </p:txBody>
      </p:sp>
      <p:sp>
        <p:nvSpPr>
          <p:cNvPr id="18" name="Text 12">
            <a:hlinkClick r:id="rId8" tooltip=""/>
          </p:cNvPr>
          <p:cNvSpPr txBox="1"/>
          <p:nvPr/>
        </p:nvSpPr>
        <p:spPr>
          <a:xfrm>
            <a:off x="6675120" y="2404872"/>
            <a:ext cx="5120640" cy="274320"/>
          </a:xfrm>
          <a:prstGeom prst="rect">
            <a:avLst/>
          </a:prstGeom>
          <a:noFill/>
          <a:ln/>
        </p:spPr>
        <p:txBody>
          <a:bodyPr wrap="square" lIns="0" tIns="0" rIns="0" bIns="0" rtlCol="0" anchor="ctr"/>
          <a:lstStyle/>
          <a:p>
            <a:pPr indent="0" marL="0">
              <a:buNone/>
            </a:pPr>
            <a:r>
              <a:rPr lang="en-US" sz="1050" u="sng" dirty="0">
                <a:solidFill>
                  <a:srgbClr val="1C7293"/>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https://darscover.com/for_sale/by_owner</a:t>
            </a:r>
            <a:endParaRPr lang="en-US" sz="1050" dirty="0"/>
          </a:p>
        </p:txBody>
      </p:sp>
      <p:sp>
        <p:nvSpPr>
          <p:cNvPr id="19" name="Shape 13"/>
          <p:cNvSpPr/>
          <p:nvPr/>
        </p:nvSpPr>
        <p:spPr>
          <a:xfrm>
            <a:off x="548640" y="2971800"/>
            <a:ext cx="292608" cy="292608"/>
          </a:xfrm>
          <a:prstGeom prst="ellipse">
            <a:avLst/>
          </a:prstGeom>
          <a:solidFill>
            <a:srgbClr val="065A82"/>
          </a:solidFill>
          <a:ln/>
        </p:spPr>
      </p:sp>
      <p:pic>
        <p:nvPicPr>
          <p:cNvPr id="20" name="Image 4" descr="/home/claude/ppt/white_icon_link.png">    </p:cNvPr>
          <p:cNvPicPr>
            <a:picLocks noChangeAspect="1"/>
          </p:cNvPicPr>
          <p:nvPr/>
        </p:nvPicPr>
        <p:blipFill>
          <a:blip r:embed="rId9"/>
          <a:stretch>
            <a:fillRect/>
          </a:stretch>
        </p:blipFill>
        <p:spPr>
          <a:xfrm>
            <a:off x="621792" y="3044952"/>
            <a:ext cx="146304" cy="146304"/>
          </a:xfrm>
          <a:prstGeom prst="rect">
            <a:avLst/>
          </a:prstGeom>
        </p:spPr>
      </p:pic>
      <p:sp>
        <p:nvSpPr>
          <p:cNvPr id="21" name="Text 14"/>
          <p:cNvSpPr txBox="1"/>
          <p:nvPr/>
        </p:nvSpPr>
        <p:spPr>
          <a:xfrm>
            <a:off x="960120" y="2880360"/>
            <a:ext cx="5120640" cy="320040"/>
          </a:xfrm>
          <a:prstGeom prst="rect">
            <a:avLst/>
          </a:prstGeom>
          <a:noFill/>
          <a:ln/>
        </p:spPr>
        <p:txBody>
          <a:bodyPr wrap="square" lIns="0" tIns="0" rIns="0" bIns="0" rtlCol="0" anchor="ctr"/>
          <a:lstStyle/>
          <a:p>
            <a:pPr indent="0" marL="0">
              <a:buNone/>
            </a:pPr>
            <a:r>
              <a:rPr lang="en-US" sz="1250" b="1" dirty="0">
                <a:solidFill>
                  <a:srgbClr val="1B1F26"/>
                </a:solidFill>
                <a:latin typeface="Calibri" pitchFamily="34" charset="0"/>
                <a:ea typeface="Calibri" pitchFamily="34" charset="-122"/>
                <a:cs typeface="Calibri" pitchFamily="34" charset="-120"/>
              </a:rPr>
              <a:t>Homes in Malta — For Sale by Owner</a:t>
            </a:r>
            <a:endParaRPr lang="en-US" sz="1250" dirty="0"/>
          </a:p>
        </p:txBody>
      </p:sp>
      <p:sp>
        <p:nvSpPr>
          <p:cNvPr id="22" name="Text 15">
            <a:hlinkClick r:id="rId10" tooltip=""/>
          </p:cNvPr>
          <p:cNvSpPr txBox="1"/>
          <p:nvPr/>
        </p:nvSpPr>
        <p:spPr>
          <a:xfrm>
            <a:off x="960120" y="3182112"/>
            <a:ext cx="5120640" cy="274320"/>
          </a:xfrm>
          <a:prstGeom prst="rect">
            <a:avLst/>
          </a:prstGeom>
          <a:noFill/>
          <a:ln/>
        </p:spPr>
        <p:txBody>
          <a:bodyPr wrap="square" lIns="0" tIns="0" rIns="0" bIns="0" rtlCol="0" anchor="ctr"/>
          <a:lstStyle/>
          <a:p>
            <a:pPr indent="0" marL="0">
              <a:buNone/>
            </a:pPr>
            <a:r>
              <a:rPr lang="en-US" sz="1050" u="sng" dirty="0">
                <a:solidFill>
                  <a:srgbClr val="1C7293"/>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https://homesinmalta.com/for-sale-by-owner/</a:t>
            </a:r>
            <a:endParaRPr lang="en-US" sz="1050" dirty="0"/>
          </a:p>
        </p:txBody>
      </p:sp>
      <p:sp>
        <p:nvSpPr>
          <p:cNvPr id="23" name="Shape 16"/>
          <p:cNvSpPr/>
          <p:nvPr/>
        </p:nvSpPr>
        <p:spPr>
          <a:xfrm>
            <a:off x="6263640" y="2971800"/>
            <a:ext cx="292608" cy="292608"/>
          </a:xfrm>
          <a:prstGeom prst="ellipse">
            <a:avLst/>
          </a:prstGeom>
          <a:solidFill>
            <a:srgbClr val="065A82"/>
          </a:solidFill>
          <a:ln/>
        </p:spPr>
      </p:sp>
      <p:pic>
        <p:nvPicPr>
          <p:cNvPr id="24" name="Image 5" descr="/home/claude/ppt/white_icon_link.png">    </p:cNvPr>
          <p:cNvPicPr>
            <a:picLocks noChangeAspect="1"/>
          </p:cNvPicPr>
          <p:nvPr/>
        </p:nvPicPr>
        <p:blipFill>
          <a:blip r:embed="rId11"/>
          <a:stretch>
            <a:fillRect/>
          </a:stretch>
        </p:blipFill>
        <p:spPr>
          <a:xfrm>
            <a:off x="6336792" y="3044952"/>
            <a:ext cx="146304" cy="146304"/>
          </a:xfrm>
          <a:prstGeom prst="rect">
            <a:avLst/>
          </a:prstGeom>
        </p:spPr>
      </p:pic>
      <p:sp>
        <p:nvSpPr>
          <p:cNvPr id="25" name="Text 17"/>
          <p:cNvSpPr txBox="1"/>
          <p:nvPr/>
        </p:nvSpPr>
        <p:spPr>
          <a:xfrm>
            <a:off x="6675120" y="2880360"/>
            <a:ext cx="5120640" cy="320040"/>
          </a:xfrm>
          <a:prstGeom prst="rect">
            <a:avLst/>
          </a:prstGeom>
          <a:noFill/>
          <a:ln/>
        </p:spPr>
        <p:txBody>
          <a:bodyPr wrap="square" lIns="0" tIns="0" rIns="0" bIns="0" rtlCol="0" anchor="ctr"/>
          <a:lstStyle/>
          <a:p>
            <a:pPr indent="0" marL="0">
              <a:buNone/>
            </a:pPr>
            <a:r>
              <a:rPr lang="en-US" sz="1250" b="1" dirty="0">
                <a:solidFill>
                  <a:srgbClr val="1B1F26"/>
                </a:solidFill>
                <a:latin typeface="Calibri" pitchFamily="34" charset="0"/>
                <a:ea typeface="Calibri" pitchFamily="34" charset="-122"/>
                <a:cs typeface="Calibri" pitchFamily="34" charset="-120"/>
              </a:rPr>
              <a:t>Maltapark — Short / Holiday Lets</a:t>
            </a:r>
            <a:endParaRPr lang="en-US" sz="1250" dirty="0"/>
          </a:p>
        </p:txBody>
      </p:sp>
      <p:sp>
        <p:nvSpPr>
          <p:cNvPr id="26" name="Text 18">
            <a:hlinkClick r:id="rId12" tooltip=""/>
          </p:cNvPr>
          <p:cNvSpPr txBox="1"/>
          <p:nvPr/>
        </p:nvSpPr>
        <p:spPr>
          <a:xfrm>
            <a:off x="6675120" y="3182112"/>
            <a:ext cx="5120640" cy="274320"/>
          </a:xfrm>
          <a:prstGeom prst="rect">
            <a:avLst/>
          </a:prstGeom>
          <a:noFill/>
          <a:ln/>
        </p:spPr>
        <p:txBody>
          <a:bodyPr wrap="square" lIns="0" tIns="0" rIns="0" bIns="0" rtlCol="0" anchor="ctr"/>
          <a:lstStyle/>
          <a:p>
            <a:pPr indent="0" marL="0">
              <a:buNone/>
            </a:pPr>
            <a:r>
              <a:rPr lang="en-US" sz="1050" u="sng" dirty="0">
                <a:solidFill>
                  <a:srgbClr val="1C7293"/>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https://maltapark.com/listings/category/246</a:t>
            </a:r>
            <a:endParaRPr lang="en-US" sz="1050" dirty="0"/>
          </a:p>
        </p:txBody>
      </p:sp>
      <p:sp>
        <p:nvSpPr>
          <p:cNvPr id="27" name="Shape 19"/>
          <p:cNvSpPr/>
          <p:nvPr/>
        </p:nvSpPr>
        <p:spPr>
          <a:xfrm>
            <a:off x="548640" y="3749040"/>
            <a:ext cx="292608" cy="292608"/>
          </a:xfrm>
          <a:prstGeom prst="ellipse">
            <a:avLst/>
          </a:prstGeom>
          <a:solidFill>
            <a:srgbClr val="065A82"/>
          </a:solidFill>
          <a:ln/>
        </p:spPr>
      </p:sp>
      <p:pic>
        <p:nvPicPr>
          <p:cNvPr id="28" name="Image 6" descr="/home/claude/ppt/white_icon_link.png">    </p:cNvPr>
          <p:cNvPicPr>
            <a:picLocks noChangeAspect="1"/>
          </p:cNvPicPr>
          <p:nvPr/>
        </p:nvPicPr>
        <p:blipFill>
          <a:blip r:embed="rId13"/>
          <a:stretch>
            <a:fillRect/>
          </a:stretch>
        </p:blipFill>
        <p:spPr>
          <a:xfrm>
            <a:off x="621792" y="3822192"/>
            <a:ext cx="146304" cy="146304"/>
          </a:xfrm>
          <a:prstGeom prst="rect">
            <a:avLst/>
          </a:prstGeom>
        </p:spPr>
      </p:pic>
      <p:sp>
        <p:nvSpPr>
          <p:cNvPr id="29" name="Text 20"/>
          <p:cNvSpPr txBox="1"/>
          <p:nvPr/>
        </p:nvSpPr>
        <p:spPr>
          <a:xfrm>
            <a:off x="960120" y="3657600"/>
            <a:ext cx="5120640" cy="320040"/>
          </a:xfrm>
          <a:prstGeom prst="rect">
            <a:avLst/>
          </a:prstGeom>
          <a:noFill/>
          <a:ln/>
        </p:spPr>
        <p:txBody>
          <a:bodyPr wrap="square" lIns="0" tIns="0" rIns="0" bIns="0" rtlCol="0" anchor="ctr"/>
          <a:lstStyle/>
          <a:p>
            <a:pPr indent="0" marL="0">
              <a:buNone/>
            </a:pPr>
            <a:r>
              <a:rPr lang="en-US" sz="1250" b="1" dirty="0">
                <a:solidFill>
                  <a:srgbClr val="1B1F26"/>
                </a:solidFill>
                <a:latin typeface="Calibri" pitchFamily="34" charset="0"/>
                <a:ea typeface="Calibri" pitchFamily="34" charset="-122"/>
                <a:cs typeface="Calibri" pitchFamily="34" charset="-120"/>
              </a:rPr>
              <a:t>Maltapark — Long Lets</a:t>
            </a:r>
            <a:endParaRPr lang="en-US" sz="1250" dirty="0"/>
          </a:p>
        </p:txBody>
      </p:sp>
      <p:sp>
        <p:nvSpPr>
          <p:cNvPr id="30" name="Text 21">
            <a:hlinkClick r:id="rId14" tooltip=""/>
          </p:cNvPr>
          <p:cNvSpPr txBox="1"/>
          <p:nvPr/>
        </p:nvSpPr>
        <p:spPr>
          <a:xfrm>
            <a:off x="960120" y="3959352"/>
            <a:ext cx="5120640" cy="274320"/>
          </a:xfrm>
          <a:prstGeom prst="rect">
            <a:avLst/>
          </a:prstGeom>
          <a:noFill/>
          <a:ln/>
        </p:spPr>
        <p:txBody>
          <a:bodyPr wrap="square" lIns="0" tIns="0" rIns="0" bIns="0" rtlCol="0" anchor="ctr"/>
          <a:lstStyle/>
          <a:p>
            <a:pPr indent="0" marL="0">
              <a:buNone/>
            </a:pPr>
            <a:r>
              <a:rPr lang="en-US" sz="1050" u="sng" dirty="0">
                <a:solidFill>
                  <a:srgbClr val="1C7293"/>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https://maltapark.com/listings/category/247</a:t>
            </a:r>
            <a:endParaRPr lang="en-US" sz="1050" dirty="0"/>
          </a:p>
        </p:txBody>
      </p:sp>
      <p:sp>
        <p:nvSpPr>
          <p:cNvPr id="31" name="Shape 22"/>
          <p:cNvSpPr/>
          <p:nvPr/>
        </p:nvSpPr>
        <p:spPr>
          <a:xfrm>
            <a:off x="6263640" y="3749040"/>
            <a:ext cx="292608" cy="292608"/>
          </a:xfrm>
          <a:prstGeom prst="ellipse">
            <a:avLst/>
          </a:prstGeom>
          <a:solidFill>
            <a:srgbClr val="065A82"/>
          </a:solidFill>
          <a:ln/>
        </p:spPr>
      </p:sp>
      <p:pic>
        <p:nvPicPr>
          <p:cNvPr id="32" name="Image 7" descr="/home/claude/ppt/white_icon_link.png">    </p:cNvPr>
          <p:cNvPicPr>
            <a:picLocks noChangeAspect="1"/>
          </p:cNvPicPr>
          <p:nvPr/>
        </p:nvPicPr>
        <p:blipFill>
          <a:blip r:embed="rId15"/>
          <a:stretch>
            <a:fillRect/>
          </a:stretch>
        </p:blipFill>
        <p:spPr>
          <a:xfrm>
            <a:off x="6336792" y="3822192"/>
            <a:ext cx="146304" cy="146304"/>
          </a:xfrm>
          <a:prstGeom prst="rect">
            <a:avLst/>
          </a:prstGeom>
        </p:spPr>
      </p:pic>
      <p:sp>
        <p:nvSpPr>
          <p:cNvPr id="33" name="Text 23"/>
          <p:cNvSpPr txBox="1"/>
          <p:nvPr/>
        </p:nvSpPr>
        <p:spPr>
          <a:xfrm>
            <a:off x="6675120" y="3657600"/>
            <a:ext cx="5120640" cy="320040"/>
          </a:xfrm>
          <a:prstGeom prst="rect">
            <a:avLst/>
          </a:prstGeom>
          <a:noFill/>
          <a:ln/>
        </p:spPr>
        <p:txBody>
          <a:bodyPr wrap="square" lIns="0" tIns="0" rIns="0" bIns="0" rtlCol="0" anchor="ctr"/>
          <a:lstStyle/>
          <a:p>
            <a:pPr indent="0" marL="0">
              <a:buNone/>
            </a:pPr>
            <a:r>
              <a:rPr lang="en-US" sz="1250" b="1" dirty="0">
                <a:solidFill>
                  <a:srgbClr val="1B1F26"/>
                </a:solidFill>
                <a:latin typeface="Calibri" pitchFamily="34" charset="0"/>
                <a:ea typeface="Calibri" pitchFamily="34" charset="-122"/>
                <a:cs typeface="Calibri" pitchFamily="34" charset="-120"/>
              </a:rPr>
              <a:t>Properties From Owner</a:t>
            </a:r>
            <a:endParaRPr lang="en-US" sz="1250" dirty="0"/>
          </a:p>
        </p:txBody>
      </p:sp>
      <p:sp>
        <p:nvSpPr>
          <p:cNvPr id="34" name="Text 24">
            <a:hlinkClick r:id="rId16" tooltip=""/>
          </p:cNvPr>
          <p:cNvSpPr txBox="1"/>
          <p:nvPr/>
        </p:nvSpPr>
        <p:spPr>
          <a:xfrm>
            <a:off x="6675120" y="3959352"/>
            <a:ext cx="5120640" cy="274320"/>
          </a:xfrm>
          <a:prstGeom prst="rect">
            <a:avLst/>
          </a:prstGeom>
          <a:noFill/>
          <a:ln/>
        </p:spPr>
        <p:txBody>
          <a:bodyPr wrap="square" lIns="0" tIns="0" rIns="0" bIns="0" rtlCol="0" anchor="ctr"/>
          <a:lstStyle/>
          <a:p>
            <a:pPr indent="0" marL="0">
              <a:buNone/>
            </a:pPr>
            <a:r>
              <a:rPr lang="en-US" sz="1050" u="sng" dirty="0">
                <a:solidFill>
                  <a:srgbClr val="1C7293"/>
                </a:solidFill>
                <a:latin typeface="Calibri" pitchFamily="34" charset="0"/>
                <a:ea typeface="Calibri" pitchFamily="34" charset="-122"/>
                <a:cs typeface="Calibr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https://www.propertiesfromowner.com/</a:t>
            </a:r>
            <a:endParaRPr lang="en-US" sz="1050" dirty="0"/>
          </a:p>
        </p:txBody>
      </p:sp>
      <p:sp>
        <p:nvSpPr>
          <p:cNvPr id="35" name="Shape 25"/>
          <p:cNvSpPr/>
          <p:nvPr/>
        </p:nvSpPr>
        <p:spPr>
          <a:xfrm>
            <a:off x="548640" y="4526280"/>
            <a:ext cx="292608" cy="292608"/>
          </a:xfrm>
          <a:prstGeom prst="ellipse">
            <a:avLst/>
          </a:prstGeom>
          <a:solidFill>
            <a:srgbClr val="065A82"/>
          </a:solidFill>
          <a:ln/>
        </p:spPr>
      </p:sp>
      <p:pic>
        <p:nvPicPr>
          <p:cNvPr id="36" name="Image 8" descr="/home/claude/ppt/white_icon_link.png">    </p:cNvPr>
          <p:cNvPicPr>
            <a:picLocks noChangeAspect="1"/>
          </p:cNvPicPr>
          <p:nvPr/>
        </p:nvPicPr>
        <p:blipFill>
          <a:blip r:embed="rId17"/>
          <a:stretch>
            <a:fillRect/>
          </a:stretch>
        </p:blipFill>
        <p:spPr>
          <a:xfrm>
            <a:off x="621792" y="4599432"/>
            <a:ext cx="146304" cy="146304"/>
          </a:xfrm>
          <a:prstGeom prst="rect">
            <a:avLst/>
          </a:prstGeom>
        </p:spPr>
      </p:pic>
      <p:sp>
        <p:nvSpPr>
          <p:cNvPr id="37" name="Text 26"/>
          <p:cNvSpPr txBox="1"/>
          <p:nvPr/>
        </p:nvSpPr>
        <p:spPr>
          <a:xfrm>
            <a:off x="960120" y="4434840"/>
            <a:ext cx="5120640" cy="320040"/>
          </a:xfrm>
          <a:prstGeom prst="rect">
            <a:avLst/>
          </a:prstGeom>
          <a:noFill/>
          <a:ln/>
        </p:spPr>
        <p:txBody>
          <a:bodyPr wrap="square" lIns="0" tIns="0" rIns="0" bIns="0" rtlCol="0" anchor="ctr"/>
          <a:lstStyle/>
          <a:p>
            <a:pPr indent="0" marL="0">
              <a:buNone/>
            </a:pPr>
            <a:r>
              <a:rPr lang="en-US" sz="1250" b="1" dirty="0">
                <a:solidFill>
                  <a:srgbClr val="1B1F26"/>
                </a:solidFill>
                <a:latin typeface="Calibri" pitchFamily="34" charset="0"/>
                <a:ea typeface="Calibri" pitchFamily="34" charset="-122"/>
                <a:cs typeface="Calibri" pitchFamily="34" charset="-120"/>
              </a:rPr>
              <a:t>Malta Land Registration Agency</a:t>
            </a:r>
            <a:endParaRPr lang="en-US" sz="1250" dirty="0"/>
          </a:p>
        </p:txBody>
      </p:sp>
      <p:sp>
        <p:nvSpPr>
          <p:cNvPr id="38" name="Text 27">
            <a:hlinkClick r:id="rId18" tooltip=""/>
          </p:cNvPr>
          <p:cNvSpPr txBox="1"/>
          <p:nvPr/>
        </p:nvSpPr>
        <p:spPr>
          <a:xfrm>
            <a:off x="960120" y="4736592"/>
            <a:ext cx="5120640" cy="274320"/>
          </a:xfrm>
          <a:prstGeom prst="rect">
            <a:avLst/>
          </a:prstGeom>
          <a:noFill/>
          <a:ln/>
        </p:spPr>
        <p:txBody>
          <a:bodyPr wrap="square" lIns="0" tIns="0" rIns="0" bIns="0" rtlCol="0" anchor="ctr"/>
          <a:lstStyle/>
          <a:p>
            <a:pPr indent="0" marL="0">
              <a:buNone/>
            </a:pPr>
            <a:r>
              <a:rPr lang="en-US" sz="1050" u="sng" dirty="0">
                <a:solidFill>
                  <a:srgbClr val="1C7293"/>
                </a:solidFill>
                <a:latin typeface="Calibri" pitchFamily="34" charset="0"/>
                <a:ea typeface="Calibri" pitchFamily="34" charset="-122"/>
                <a:cs typeface="Calibri" pitchFamily="34" charset="-120"/>
                <a:hlinkClick r:id="rId18" invalidUrl="" action="" tgtFrame="" tooltip="" history="1" highlightClick="0" endSnd="0">
                  <a:extLst>
                    <a:ext uri="{A12FA001-AC4F-418D-AE19-62706E023703}">
                      <ahyp:hlinkClr xmlns:ahyp="http://schemas.microsoft.com/office/drawing/2018/hyperlinkcolor" val="tx"/>
                    </a:ext>
                  </a:extLst>
                </a:hlinkClick>
              </a:rPr>
              <a:t>https://landsregistry.mt/en/</a:t>
            </a:r>
            <a:endParaRPr lang="en-US" sz="1050" dirty="0"/>
          </a:p>
        </p:txBody>
      </p:sp>
      <p:sp>
        <p:nvSpPr>
          <p:cNvPr id="39" name="Shape 28"/>
          <p:cNvSpPr/>
          <p:nvPr/>
        </p:nvSpPr>
        <p:spPr>
          <a:xfrm>
            <a:off x="6263640" y="4526280"/>
            <a:ext cx="292608" cy="292608"/>
          </a:xfrm>
          <a:prstGeom prst="ellipse">
            <a:avLst/>
          </a:prstGeom>
          <a:solidFill>
            <a:srgbClr val="065A82"/>
          </a:solidFill>
          <a:ln/>
        </p:spPr>
      </p:sp>
      <p:pic>
        <p:nvPicPr>
          <p:cNvPr id="40" name="Image 9" descr="/home/claude/ppt/white_icon_link.png">    </p:cNvPr>
          <p:cNvPicPr>
            <a:picLocks noChangeAspect="1"/>
          </p:cNvPicPr>
          <p:nvPr/>
        </p:nvPicPr>
        <p:blipFill>
          <a:blip r:embed="rId19"/>
          <a:stretch>
            <a:fillRect/>
          </a:stretch>
        </p:blipFill>
        <p:spPr>
          <a:xfrm>
            <a:off x="6336792" y="4599432"/>
            <a:ext cx="146304" cy="146304"/>
          </a:xfrm>
          <a:prstGeom prst="rect">
            <a:avLst/>
          </a:prstGeom>
        </p:spPr>
      </p:pic>
      <p:sp>
        <p:nvSpPr>
          <p:cNvPr id="41" name="Text 29"/>
          <p:cNvSpPr txBox="1"/>
          <p:nvPr/>
        </p:nvSpPr>
        <p:spPr>
          <a:xfrm>
            <a:off x="6675120" y="4434840"/>
            <a:ext cx="5120640" cy="320040"/>
          </a:xfrm>
          <a:prstGeom prst="rect">
            <a:avLst/>
          </a:prstGeom>
          <a:noFill/>
          <a:ln/>
        </p:spPr>
        <p:txBody>
          <a:bodyPr wrap="square" lIns="0" tIns="0" rIns="0" bIns="0" rtlCol="0" anchor="ctr"/>
          <a:lstStyle/>
          <a:p>
            <a:pPr indent="0" marL="0">
              <a:buNone/>
            </a:pPr>
            <a:r>
              <a:rPr lang="en-US" sz="1250" b="1" dirty="0">
                <a:solidFill>
                  <a:srgbClr val="1B1F26"/>
                </a:solidFill>
                <a:latin typeface="Calibri" pitchFamily="34" charset="0"/>
                <a:ea typeface="Calibri" pitchFamily="34" charset="-122"/>
                <a:cs typeface="Calibri" pitchFamily="34" charset="-120"/>
              </a:rPr>
              <a:t>Public Registry — Searches Unit</a:t>
            </a:r>
            <a:endParaRPr lang="en-US" sz="1250" dirty="0"/>
          </a:p>
        </p:txBody>
      </p:sp>
      <p:sp>
        <p:nvSpPr>
          <p:cNvPr id="42" name="Text 30">
            <a:hlinkClick r:id="rId20" tooltip=""/>
          </p:cNvPr>
          <p:cNvSpPr txBox="1"/>
          <p:nvPr/>
        </p:nvSpPr>
        <p:spPr>
          <a:xfrm>
            <a:off x="6675120" y="4736592"/>
            <a:ext cx="5120640" cy="274320"/>
          </a:xfrm>
          <a:prstGeom prst="rect">
            <a:avLst/>
          </a:prstGeom>
          <a:noFill/>
          <a:ln/>
        </p:spPr>
        <p:txBody>
          <a:bodyPr wrap="square" lIns="0" tIns="0" rIns="0" bIns="0" rtlCol="0" anchor="ctr"/>
          <a:lstStyle/>
          <a:p>
            <a:pPr indent="0" marL="0">
              <a:buNone/>
            </a:pPr>
            <a:r>
              <a:rPr lang="en-US" sz="1050" u="sng" dirty="0">
                <a:solidFill>
                  <a:srgbClr val="1C7293"/>
                </a:solidFill>
                <a:latin typeface="Calibri" pitchFamily="34" charset="0"/>
                <a:ea typeface="Calibri" pitchFamily="34" charset="-122"/>
                <a:cs typeface="Calibri" pitchFamily="34" charset="-120"/>
                <a:hlinkClick r:id="rId20" invalidUrl="" action="" tgtFrame="" tooltip="" history="1" highlightClick="0" endSnd="0">
                  <a:extLst>
                    <a:ext uri="{A12FA001-AC4F-418D-AE19-62706E023703}">
                      <ahyp:hlinkClr xmlns:ahyp="http://schemas.microsoft.com/office/drawing/2018/hyperlinkcolor" val="tx"/>
                    </a:ext>
                  </a:extLst>
                </a:hlinkClick>
              </a:rPr>
              <a:t>https://identita.gov.mt/searches-main-page/</a:t>
            </a:r>
            <a:endParaRPr lang="en-US" sz="1050" dirty="0"/>
          </a:p>
        </p:txBody>
      </p:sp>
      <p:sp>
        <p:nvSpPr>
          <p:cNvPr id="43" name="Shape 31"/>
          <p:cNvSpPr/>
          <p:nvPr/>
        </p:nvSpPr>
        <p:spPr>
          <a:xfrm>
            <a:off x="548640" y="5303520"/>
            <a:ext cx="292608" cy="292608"/>
          </a:xfrm>
          <a:prstGeom prst="ellipse">
            <a:avLst/>
          </a:prstGeom>
          <a:solidFill>
            <a:srgbClr val="065A82"/>
          </a:solidFill>
          <a:ln/>
        </p:spPr>
      </p:sp>
      <p:pic>
        <p:nvPicPr>
          <p:cNvPr id="44" name="Image 10" descr="/home/claude/ppt/white_icon_link.png">    </p:cNvPr>
          <p:cNvPicPr>
            <a:picLocks noChangeAspect="1"/>
          </p:cNvPicPr>
          <p:nvPr/>
        </p:nvPicPr>
        <p:blipFill>
          <a:blip r:embed="rId21"/>
          <a:stretch>
            <a:fillRect/>
          </a:stretch>
        </p:blipFill>
        <p:spPr>
          <a:xfrm>
            <a:off x="621792" y="5376672"/>
            <a:ext cx="146304" cy="146304"/>
          </a:xfrm>
          <a:prstGeom prst="rect">
            <a:avLst/>
          </a:prstGeom>
        </p:spPr>
      </p:pic>
      <p:sp>
        <p:nvSpPr>
          <p:cNvPr id="45" name="Text 32"/>
          <p:cNvSpPr txBox="1"/>
          <p:nvPr/>
        </p:nvSpPr>
        <p:spPr>
          <a:xfrm>
            <a:off x="960120" y="5212080"/>
            <a:ext cx="5120640" cy="320040"/>
          </a:xfrm>
          <a:prstGeom prst="rect">
            <a:avLst/>
          </a:prstGeom>
          <a:noFill/>
          <a:ln/>
        </p:spPr>
        <p:txBody>
          <a:bodyPr wrap="square" lIns="0" tIns="0" rIns="0" bIns="0" rtlCol="0" anchor="ctr"/>
          <a:lstStyle/>
          <a:p>
            <a:pPr indent="0" marL="0">
              <a:buNone/>
            </a:pPr>
            <a:r>
              <a:rPr lang="en-US" sz="1250" b="1" dirty="0">
                <a:solidFill>
                  <a:srgbClr val="1B1F26"/>
                </a:solidFill>
                <a:latin typeface="Calibri" pitchFamily="34" charset="0"/>
                <a:ea typeface="Calibri" pitchFamily="34" charset="-122"/>
                <a:cs typeface="Calibri" pitchFamily="34" charset="-120"/>
              </a:rPr>
              <a:t>Malta Business Registry</a:t>
            </a:r>
            <a:endParaRPr lang="en-US" sz="1250" dirty="0"/>
          </a:p>
        </p:txBody>
      </p:sp>
      <p:sp>
        <p:nvSpPr>
          <p:cNvPr id="46" name="Text 33">
            <a:hlinkClick r:id="rId22" tooltip=""/>
          </p:cNvPr>
          <p:cNvSpPr txBox="1"/>
          <p:nvPr/>
        </p:nvSpPr>
        <p:spPr>
          <a:xfrm>
            <a:off x="960120" y="5513832"/>
            <a:ext cx="5120640" cy="274320"/>
          </a:xfrm>
          <a:prstGeom prst="rect">
            <a:avLst/>
          </a:prstGeom>
          <a:noFill/>
          <a:ln/>
        </p:spPr>
        <p:txBody>
          <a:bodyPr wrap="square" lIns="0" tIns="0" rIns="0" bIns="0" rtlCol="0" anchor="ctr"/>
          <a:lstStyle/>
          <a:p>
            <a:pPr indent="0" marL="0">
              <a:buNone/>
            </a:pPr>
            <a:r>
              <a:rPr lang="en-US" sz="1050" u="sng" dirty="0">
                <a:solidFill>
                  <a:srgbClr val="1C7293"/>
                </a:solidFill>
                <a:latin typeface="Calibri" pitchFamily="34" charset="0"/>
                <a:ea typeface="Calibri" pitchFamily="34" charset="-122"/>
                <a:cs typeface="Calibri" pitchFamily="34" charset="-120"/>
                <a:hlinkClick r:id="rId22" invalidUrl="" action="" tgtFrame="" tooltip="" history="1" highlightClick="0" endSnd="0">
                  <a:extLst>
                    <a:ext uri="{A12FA001-AC4F-418D-AE19-62706E023703}">
                      <ahyp:hlinkClr xmlns:ahyp="http://schemas.microsoft.com/office/drawing/2018/hyperlinkcolor" val="tx"/>
                    </a:ext>
                  </a:extLst>
                </a:hlinkClick>
              </a:rPr>
              <a:t>https://mbr.mca.org.mt</a:t>
            </a:r>
            <a:endParaRPr lang="en-US" sz="1050" dirty="0"/>
          </a:p>
        </p:txBody>
      </p:sp>
      <p:sp>
        <p:nvSpPr>
          <p:cNvPr id="47" name="Shape 34"/>
          <p:cNvSpPr/>
          <p:nvPr/>
        </p:nvSpPr>
        <p:spPr>
          <a:xfrm>
            <a:off x="6263640" y="5303520"/>
            <a:ext cx="292608" cy="292608"/>
          </a:xfrm>
          <a:prstGeom prst="ellipse">
            <a:avLst/>
          </a:prstGeom>
          <a:solidFill>
            <a:srgbClr val="065A82"/>
          </a:solidFill>
          <a:ln/>
        </p:spPr>
      </p:sp>
      <p:pic>
        <p:nvPicPr>
          <p:cNvPr id="48" name="Image 11" descr="/home/claude/ppt/white_icon_link.png">    </p:cNvPr>
          <p:cNvPicPr>
            <a:picLocks noChangeAspect="1"/>
          </p:cNvPicPr>
          <p:nvPr/>
        </p:nvPicPr>
        <p:blipFill>
          <a:blip r:embed="rId23"/>
          <a:stretch>
            <a:fillRect/>
          </a:stretch>
        </p:blipFill>
        <p:spPr>
          <a:xfrm>
            <a:off x="6336792" y="5376672"/>
            <a:ext cx="146304" cy="146304"/>
          </a:xfrm>
          <a:prstGeom prst="rect">
            <a:avLst/>
          </a:prstGeom>
        </p:spPr>
      </p:pic>
      <p:sp>
        <p:nvSpPr>
          <p:cNvPr id="49" name="Text 35"/>
          <p:cNvSpPr txBox="1"/>
          <p:nvPr/>
        </p:nvSpPr>
        <p:spPr>
          <a:xfrm>
            <a:off x="6675120" y="5212080"/>
            <a:ext cx="5120640" cy="320040"/>
          </a:xfrm>
          <a:prstGeom prst="rect">
            <a:avLst/>
          </a:prstGeom>
          <a:noFill/>
          <a:ln/>
        </p:spPr>
        <p:txBody>
          <a:bodyPr wrap="square" lIns="0" tIns="0" rIns="0" bIns="0" rtlCol="0" anchor="ctr"/>
          <a:lstStyle/>
          <a:p>
            <a:pPr indent="0" marL="0">
              <a:buNone/>
            </a:pPr>
            <a:r>
              <a:rPr lang="en-US" sz="1250" b="1" dirty="0">
                <a:solidFill>
                  <a:srgbClr val="1B1F26"/>
                </a:solidFill>
                <a:latin typeface="Calibri" pitchFamily="34" charset="0"/>
                <a:ea typeface="Calibri" pitchFamily="34" charset="-122"/>
                <a:cs typeface="Calibri" pitchFamily="34" charset="-120"/>
              </a:rPr>
              <a:t>Property Price Registry (PwC / Property Malta)</a:t>
            </a:r>
            <a:endParaRPr lang="en-US" sz="1250" dirty="0"/>
          </a:p>
        </p:txBody>
      </p:sp>
      <p:sp>
        <p:nvSpPr>
          <p:cNvPr id="50" name="Text 36">
            <a:hlinkClick r:id="rId24" tooltip=""/>
          </p:cNvPr>
          <p:cNvSpPr txBox="1"/>
          <p:nvPr/>
        </p:nvSpPr>
        <p:spPr>
          <a:xfrm>
            <a:off x="6675120" y="5513832"/>
            <a:ext cx="5120640" cy="274320"/>
          </a:xfrm>
          <a:prstGeom prst="rect">
            <a:avLst/>
          </a:prstGeom>
          <a:noFill/>
          <a:ln/>
        </p:spPr>
        <p:txBody>
          <a:bodyPr wrap="square" lIns="0" tIns="0" rIns="0" bIns="0" rtlCol="0" anchor="ctr"/>
          <a:lstStyle/>
          <a:p>
            <a:pPr indent="0" marL="0">
              <a:buNone/>
            </a:pPr>
            <a:r>
              <a:rPr lang="en-US" sz="1050" u="sng" dirty="0">
                <a:solidFill>
                  <a:srgbClr val="1C7293"/>
                </a:solidFill>
                <a:latin typeface="Calibri" pitchFamily="34" charset="0"/>
                <a:ea typeface="Calibri" pitchFamily="34" charset="-122"/>
                <a:cs typeface="Calibri" pitchFamily="34" charset="-120"/>
                <a:hlinkClick r:id="rId24" invalidUrl="" action="" tgtFrame="" tooltip="" history="1" highlightClick="0" endSnd="0">
                  <a:extLst>
                    <a:ext uri="{A12FA001-AC4F-418D-AE19-62706E023703}">
                      <ahyp:hlinkClr xmlns:ahyp="http://schemas.microsoft.com/office/drawing/2018/hyperlinkcolor" val="tx"/>
                    </a:ext>
                  </a:extLst>
                </a:hlinkClick>
              </a:rPr>
              <a:t>https://ppr.propertymalta.org/</a:t>
            </a:r>
            <a:endParaRPr lang="en-US" sz="1050" dirty="0"/>
          </a:p>
        </p:txBody>
      </p:sp>
      <p:sp>
        <p:nvSpPr>
          <p:cNvPr id="51" name="Text 37"/>
          <p:cNvSpPr/>
          <p:nvPr/>
        </p:nvSpPr>
        <p:spPr>
          <a:xfrm>
            <a:off x="457200" y="6519672"/>
            <a:ext cx="7315200" cy="274320"/>
          </a:xfrm>
          <a:prstGeom prst="rect">
            <a:avLst/>
          </a:prstGeom>
          <a:noFill/>
          <a:ln/>
        </p:spPr>
        <p:txBody>
          <a:bodyPr wrap="square" rtlCol="0" anchor="ctr"/>
          <a:lstStyle/>
          <a:p>
            <a:pPr indent="0" marL="0">
              <a:buNone/>
            </a:pPr>
            <a:r>
              <a:rPr lang="en-US" sz="900" dirty="0">
                <a:solidFill>
                  <a:srgbClr val="5C6B73"/>
                </a:solidFill>
                <a:latin typeface="Calibri" pitchFamily="34" charset="0"/>
                <a:ea typeface="Calibri" pitchFamily="34" charset="-122"/>
                <a:cs typeface="Calibri" pitchFamily="34" charset="-120"/>
              </a:rPr>
              <a:t>Slide 10</a:t>
            </a:r>
            <a:endParaRPr lang="en-US" sz="900" dirty="0"/>
          </a:p>
        </p:txBody>
      </p:sp>
      <p:sp>
        <p:nvSpPr>
          <p:cNvPr id="52" name="Text 38"/>
          <p:cNvSpPr/>
          <p:nvPr/>
        </p:nvSpPr>
        <p:spPr>
          <a:xfrm>
            <a:off x="7772400" y="6519672"/>
            <a:ext cx="3931920" cy="274320"/>
          </a:xfrm>
          <a:prstGeom prst="rect">
            <a:avLst/>
          </a:prstGeom>
          <a:noFill/>
          <a:ln/>
        </p:spPr>
        <p:txBody>
          <a:bodyPr wrap="square" rtlCol="0" anchor="ctr"/>
          <a:lstStyle/>
          <a:p>
            <a:pPr algn="r" indent="0" marL="0">
              <a:buNone/>
            </a:pPr>
            <a:r>
              <a:rPr lang="en-US" sz="900" dirty="0">
                <a:solidFill>
                  <a:srgbClr val="5C6B73"/>
                </a:solidFill>
                <a:latin typeface="Calibri" pitchFamily="34" charset="0"/>
                <a:ea typeface="Calibri" pitchFamily="34" charset="-122"/>
                <a:cs typeface="Calibri" pitchFamily="34" charset="-120"/>
              </a:rPr>
              <a:t>Malta Property Owner Data — Research Summary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2026-09-03T17:28:00Z</dcterms:created>
  <dcterms:modified xsi:type="dcterms:W3CDTF">2026-09-03T17:28:00Z</dcterms:modified>
</cp:coreProperties>
</file>